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70" r:id="rId6"/>
    <p:sldId id="260" r:id="rId7"/>
    <p:sldId id="261" r:id="rId8"/>
    <p:sldId id="262" r:id="rId9"/>
    <p:sldId id="265" r:id="rId10"/>
    <p:sldId id="263" r:id="rId11"/>
    <p:sldId id="271" r:id="rId12"/>
    <p:sldId id="266" r:id="rId13"/>
    <p:sldId id="267" r:id="rId14"/>
    <p:sldId id="268" r:id="rId15"/>
    <p:sldId id="269"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p:scale>
          <a:sx n="70" d="100"/>
          <a:sy n="70" d="100"/>
        </p:scale>
        <p:origin x="512" y="-2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E2761"/>
                </a:solidFill>
                <a:latin typeface="Arial"/>
              </a:defRPr>
            </a:pPr>
            <a:r>
              <a:rPr lang="en-US" sz="1400" b="0" i="0" u="none" strike="noStrike">
                <a:solidFill>
                  <a:srgbClr val="1E2761"/>
                </a:solidFill>
                <a:latin typeface="Arial"/>
              </a:rPr>
              <a:t>Average Profit by Genre ($M)</a:t>
            </a:r>
          </a:p>
        </c:rich>
      </c:tx>
      <c:overlay val="0"/>
    </c:title>
    <c:autoTitleDeleted val="0"/>
    <c:plotArea>
      <c:layout/>
      <c:barChart>
        <c:barDir val="col"/>
        <c:grouping val="clustered"/>
        <c:varyColors val="0"/>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2E6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47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userShapes r:id="rId2"/>
</c:chartSpace>
</file>

<file path=ppt/drawings/_rels/drawing1.xml.rels><?xml version="1.0" encoding="UTF-8" standalone="yes"?>
<Relationships xmlns="http://schemas.openxmlformats.org/package/2006/relationships"><Relationship Id="rId1" Type="http://schemas.openxmlformats.org/officeDocument/2006/relationships/image" Target="../media/image2.png"/></Relationships>
</file>

<file path=ppt/drawings/drawing1.xml><?xml version="1.0" encoding="utf-8"?>
<c:userShapes xmlns:c="http://schemas.openxmlformats.org/drawingml/2006/chart">
  <cdr:relSizeAnchor xmlns:cdr="http://schemas.openxmlformats.org/drawingml/2006/chartDrawing">
    <cdr:from>
      <cdr:x>0</cdr:x>
      <cdr:y>0</cdr:y>
    </cdr:from>
    <cdr:to>
      <cdr:x>1</cdr:x>
      <cdr:y>1</cdr:y>
    </cdr:to>
    <cdr:pic>
      <cdr:nvPicPr>
        <cdr:cNvPr id="2" name="chart">
          <a:extLst xmlns:a="http://schemas.openxmlformats.org/drawingml/2006/main">
            <a:ext uri="{FF2B5EF4-FFF2-40B4-BE49-F238E27FC236}">
              <a16:creationId xmlns:a16="http://schemas.microsoft.com/office/drawing/2014/main" id="{6C3D684D-A81E-4DAB-BEDB-464958E1DB68}"/>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6949440" cy="4206240"/>
        </a:xfrm>
        <a:prstGeom xmlns:a="http://schemas.openxmlformats.org/drawingml/2006/main" prst="rect">
          <a:avLst/>
        </a:prstGeom>
      </cdr:spPr>
    </cdr:pic>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56461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 this is a 10-minute walkthrough of my BI capstone for Meridian Pictures, following the D.R.I.V.E. framework: Define, Retrieve, Insight, Visualise, Execute.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Meridian's executive team needs to decide how to allocate $500M across genres, budgets, runtimes and directors — profitably, without hurting the studio's reputation for quality.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KPIs, all built on inflation-adjusted figures. Zero-value budget or revenue rows are treated as missing data, not free films, and excluded from every profit-based question.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Retrieve stage: from 10,865 raw films down to 3,854 with trustworthy money data, after removing a duplicate and flagging zero-value rows as unknown rather than free.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profitable films of all time are dominated by big-budget blockbusters and franchises spanning decades — Star Wars, Avatar, Titanic, The Exorcist. But a Top 10 list can't show us the equally big-budget films that failed, so it doesn't tell us about risk.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Genre performance: Adventure, Animation and Family top the profit table, averaging $205–218M, while still holding ratings between 6.1 and 6.4 — no quality trade-off.</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Budget and profit rise together — Over-100M films average $283M profit vs $26M for sub-10M films — but the 0.57 correlation and scatter show real variance, so ROI and risk still matter.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 profit per film looks highest in the 1960s and 70s, but those decades had only 71–133 films — a handful of outliers skew the mean. Recent, larger samples are more representative.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Spielberg leads on total profit thanks to volume, but Cameron earns more per film. Nolan has the best rating of the top 10 despite the smallest total — profit and quality track records don't always agree.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profit and rating climb steadily with runtime, peaking together above 150 minutes — likely a selection effect, since only high-confidence projects get greenlit at that length.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Popularity roughly doubles from low to high-rated films, but with huge variance — and the highest-rated films (Shawshank, Godfather) don't overlap at all with the top profit leaders.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brings every insight together on one page, with slicers for decade and genre so the executive team can explore the data live.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recommendations: back Adventure, Animation and Family; size budgets thoughtfully rather than by default; and prioritise directors with strong track records.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honest limitation: the data stops in 2015 and only half the films had usable money data. Next, I'd want to study how streaming-era releases change profitability.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 happy to take questions on the data, the methodology, or the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D"/>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41B4D"/>
          </a:solidFill>
          <a:ln/>
        </p:spPr>
      </p:sp>
      <p:sp>
        <p:nvSpPr>
          <p:cNvPr id="3" name="Shape 1"/>
          <p:cNvSpPr/>
          <p:nvPr/>
        </p:nvSpPr>
        <p:spPr>
          <a:xfrm>
            <a:off x="8778240" y="-2011680"/>
            <a:ext cx="5943600" cy="5943600"/>
          </a:xfrm>
          <a:prstGeom prst="line">
            <a:avLst/>
          </a:prstGeom>
          <a:solidFill>
            <a:srgbClr val="1E2761"/>
          </a:solidFill>
          <a:ln/>
        </p:spPr>
      </p:sp>
      <p:sp>
        <p:nvSpPr>
          <p:cNvPr id="4" name="Shape 2"/>
          <p:cNvSpPr/>
          <p:nvPr/>
        </p:nvSpPr>
        <p:spPr>
          <a:xfrm>
            <a:off x="-2286000" y="4754880"/>
            <a:ext cx="4572000" cy="4572000"/>
          </a:xfrm>
          <a:prstGeom prst="line">
            <a:avLst/>
          </a:prstGeom>
          <a:solidFill>
            <a:srgbClr val="1E2761"/>
          </a:solidFill>
          <a:ln/>
        </p:spPr>
      </p:sp>
      <p:sp>
        <p:nvSpPr>
          <p:cNvPr id="5" name="Text 3"/>
          <p:cNvSpPr/>
          <p:nvPr/>
        </p:nvSpPr>
        <p:spPr>
          <a:xfrm>
            <a:off x="822960" y="1965960"/>
            <a:ext cx="8229600" cy="365760"/>
          </a:xfrm>
          <a:prstGeom prst="rect">
            <a:avLst/>
          </a:prstGeom>
          <a:noFill/>
          <a:ln/>
        </p:spPr>
        <p:txBody>
          <a:bodyPr wrap="square" rtlCol="0" anchor="ctr"/>
          <a:lstStyle/>
          <a:p>
            <a:pPr marL="0" indent="0">
              <a:buNone/>
            </a:pPr>
            <a:r>
              <a:rPr lang="en-US" sz="1400" b="1" kern="0" spc="300" dirty="0">
                <a:solidFill>
                  <a:srgbClr val="D9A441"/>
                </a:solidFill>
                <a:latin typeface="Calibri" pitchFamily="34" charset="0"/>
                <a:ea typeface="Calibri" pitchFamily="34" charset="-122"/>
                <a:cs typeface="Calibri" pitchFamily="34" charset="-120"/>
              </a:rPr>
              <a:t>A D.R.I.V.E. CAPSTONE PROJECT</a:t>
            </a:r>
            <a:endParaRPr lang="en-US" sz="1400" dirty="0"/>
          </a:p>
        </p:txBody>
      </p:sp>
      <p:sp>
        <p:nvSpPr>
          <p:cNvPr id="6" name="Text 4"/>
          <p:cNvSpPr/>
          <p:nvPr/>
        </p:nvSpPr>
        <p:spPr>
          <a:xfrm>
            <a:off x="822960" y="2331720"/>
            <a:ext cx="10058400" cy="1005840"/>
          </a:xfrm>
          <a:prstGeom prst="rect">
            <a:avLst/>
          </a:prstGeom>
          <a:noFill/>
          <a:ln/>
        </p:spPr>
        <p:txBody>
          <a:bodyPr wrap="square"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Meridian Pictures</a:t>
            </a:r>
            <a:endParaRPr lang="en-US" sz="5000" dirty="0"/>
          </a:p>
        </p:txBody>
      </p:sp>
      <p:sp>
        <p:nvSpPr>
          <p:cNvPr id="7" name="Text 5"/>
          <p:cNvSpPr/>
          <p:nvPr/>
        </p:nvSpPr>
        <p:spPr>
          <a:xfrm>
            <a:off x="822960" y="3291840"/>
            <a:ext cx="9601200" cy="548640"/>
          </a:xfrm>
          <a:prstGeom prst="rect">
            <a:avLst/>
          </a:prstGeom>
          <a:noFill/>
          <a:ln/>
        </p:spPr>
        <p:txBody>
          <a:bodyPr wrap="square" rtlCol="0" anchor="ctr"/>
          <a:lstStyle/>
          <a:p>
            <a:pPr marL="0" indent="0">
              <a:buNone/>
            </a:pPr>
            <a:r>
              <a:rPr lang="en-US" sz="2000" dirty="0">
                <a:solidFill>
                  <a:srgbClr val="CADCFC"/>
                </a:solidFill>
                <a:latin typeface="Calibri" pitchFamily="34" charset="0"/>
                <a:ea typeface="Calibri" pitchFamily="34" charset="-122"/>
                <a:cs typeface="Calibri" pitchFamily="34" charset="-120"/>
              </a:rPr>
              <a:t>Data-Driven Production Strategy for a $500M Investment</a:t>
            </a:r>
          </a:p>
          <a:p>
            <a:pPr marL="0" indent="0">
              <a:buNone/>
            </a:pPr>
            <a:endParaRPr lang="en-US" sz="2000" dirty="0">
              <a:solidFill>
                <a:srgbClr val="CADCFC"/>
              </a:solidFill>
              <a:latin typeface="Calibri" pitchFamily="34" charset="0"/>
              <a:ea typeface="Calibri" pitchFamily="34" charset="-122"/>
              <a:cs typeface="Calibri" pitchFamily="34" charset="-120"/>
            </a:endParaRPr>
          </a:p>
          <a:p>
            <a:pPr marL="0" indent="0">
              <a:buNone/>
            </a:pPr>
            <a:r>
              <a:rPr lang="en-US" sz="2000" dirty="0" err="1">
                <a:solidFill>
                  <a:srgbClr val="CADCFC"/>
                </a:solidFill>
                <a:latin typeface="Calibri" pitchFamily="34" charset="0"/>
                <a:ea typeface="Calibri" pitchFamily="34" charset="-122"/>
                <a:cs typeface="Calibri" pitchFamily="34" charset="-120"/>
              </a:rPr>
              <a:t>Boluwatife</a:t>
            </a:r>
            <a:r>
              <a:rPr lang="en-US" sz="2000" dirty="0">
                <a:solidFill>
                  <a:srgbClr val="CADCFC"/>
                </a:solidFill>
                <a:latin typeface="Calibri" pitchFamily="34" charset="0"/>
                <a:ea typeface="Calibri" pitchFamily="34" charset="-122"/>
                <a:cs typeface="Calibri" pitchFamily="34" charset="-120"/>
              </a:rPr>
              <a:t> Bankole</a:t>
            </a:r>
            <a:endParaRPr lang="en-US" sz="2000" dirty="0"/>
          </a:p>
        </p:txBody>
      </p:sp>
      <p:sp>
        <p:nvSpPr>
          <p:cNvPr id="8" name="Shape 6"/>
          <p:cNvSpPr/>
          <p:nvPr/>
        </p:nvSpPr>
        <p:spPr>
          <a:xfrm>
            <a:off x="923544" y="4014216"/>
            <a:ext cx="2011680" cy="0"/>
          </a:xfrm>
          <a:prstGeom prst="line">
            <a:avLst/>
          </a:prstGeom>
          <a:noFill/>
          <a:ln w="25400">
            <a:solidFill>
              <a:srgbClr val="D9A441"/>
            </a:solidFill>
            <a:prstDash val="solid"/>
          </a:ln>
        </p:spPr>
        <p:txBody>
          <a:bodyPr/>
          <a:lstStyle/>
          <a:p>
            <a:endParaRPr lang="en-US" dirty="0"/>
          </a:p>
        </p:txBody>
      </p:sp>
      <p:sp>
        <p:nvSpPr>
          <p:cNvPr id="9" name="Text 7"/>
          <p:cNvSpPr/>
          <p:nvPr/>
        </p:nvSpPr>
        <p:spPr>
          <a:xfrm>
            <a:off x="822960" y="6035040"/>
            <a:ext cx="7315200" cy="36576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OptiaHQ BI &amp; Analytics Masterclass Capstone  |  July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5486400" cy="320040"/>
          </a:xfrm>
          <a:prstGeom prst="rect">
            <a:avLst/>
          </a:prstGeom>
          <a:noFill/>
          <a:ln/>
        </p:spPr>
        <p:txBody>
          <a:bodyPr wrap="square"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DEFINE</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The Business Problem</a:t>
            </a:r>
            <a:endParaRPr lang="en-US" sz="3200" dirty="0"/>
          </a:p>
        </p:txBody>
      </p:sp>
      <p:sp>
        <p:nvSpPr>
          <p:cNvPr id="4" name="Shape 2"/>
          <p:cNvSpPr/>
          <p:nvPr/>
        </p:nvSpPr>
        <p:spPr>
          <a:xfrm>
            <a:off x="548640" y="1691640"/>
            <a:ext cx="6675120" cy="2286000"/>
          </a:xfrm>
          <a:prstGeom prst="roundRect">
            <a:avLst>
              <a:gd name="adj" fmla="val 4000"/>
            </a:avLst>
          </a:prstGeom>
          <a:solidFill>
            <a:srgbClr val="F7F8FC"/>
          </a:solidFill>
          <a:ln w="12700">
            <a:solidFill>
              <a:srgbClr val="E2E6F0"/>
            </a:solidFill>
            <a:prstDash val="solid"/>
          </a:ln>
        </p:spPr>
      </p:sp>
      <p:sp>
        <p:nvSpPr>
          <p:cNvPr id="5" name="Text 3"/>
          <p:cNvSpPr/>
          <p:nvPr/>
        </p:nvSpPr>
        <p:spPr>
          <a:xfrm>
            <a:off x="868680" y="1920240"/>
            <a:ext cx="6035040" cy="1828800"/>
          </a:xfrm>
          <a:prstGeom prst="rect">
            <a:avLst/>
          </a:prstGeom>
          <a:noFill/>
          <a:ln/>
        </p:spPr>
        <p:txBody>
          <a:bodyPr wrap="square" rtlCol="0" anchor="ctr"/>
          <a:lstStyle/>
          <a:p>
            <a:pPr marL="0" indent="0">
              <a:buNone/>
            </a:pPr>
            <a:r>
              <a:rPr lang="en-US" sz="1900" i="1" dirty="0">
                <a:solidFill>
                  <a:srgbClr val="1E2761"/>
                </a:solidFill>
                <a:latin typeface="Cambria" pitchFamily="34" charset="0"/>
                <a:ea typeface="Cambria" pitchFamily="34" charset="-122"/>
                <a:cs typeface="Cambria" pitchFamily="34" charset="-120"/>
              </a:rPr>
              <a:t>Meridian Pictures wants to invest $500M in its next films, and needs to know based on what has worked in the past, which kinds of films are likely to be profitable without reducing the quality they are known for.</a:t>
            </a:r>
            <a:endParaRPr lang="en-US" sz="1900" dirty="0"/>
          </a:p>
        </p:txBody>
      </p:sp>
      <p:sp>
        <p:nvSpPr>
          <p:cNvPr id="6" name="Text 4"/>
          <p:cNvSpPr/>
          <p:nvPr/>
        </p:nvSpPr>
        <p:spPr>
          <a:xfrm>
            <a:off x="7543800" y="1691640"/>
            <a:ext cx="4114800" cy="320040"/>
          </a:xfrm>
          <a:prstGeom prst="rect">
            <a:avLst/>
          </a:prstGeom>
          <a:noFill/>
          <a:ln/>
        </p:spPr>
        <p:txBody>
          <a:bodyPr wrap="square"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THE DECISION</a:t>
            </a:r>
            <a:endParaRPr lang="en-US" sz="1300" dirty="0"/>
          </a:p>
        </p:txBody>
      </p:sp>
      <p:sp>
        <p:nvSpPr>
          <p:cNvPr id="7" name="Text 5"/>
          <p:cNvSpPr/>
          <p:nvPr/>
        </p:nvSpPr>
        <p:spPr>
          <a:xfrm>
            <a:off x="7543800" y="2011680"/>
            <a:ext cx="4069080" cy="1965960"/>
          </a:xfrm>
          <a:prstGeom prst="rect">
            <a:avLst/>
          </a:prstGeom>
          <a:noFill/>
          <a:ln/>
        </p:spPr>
        <p:txBody>
          <a:bodyPr wrap="square" rtlCol="0" anchor="t"/>
          <a:lstStyle/>
          <a:p>
            <a:pPr marL="0" indent="0">
              <a:buNone/>
            </a:pPr>
            <a:r>
              <a:rPr lang="en-US" sz="1500" dirty="0">
                <a:solidFill>
                  <a:srgbClr val="5B6472"/>
                </a:solidFill>
                <a:latin typeface="Calibri" pitchFamily="34" charset="0"/>
                <a:ea typeface="Calibri" pitchFamily="34" charset="-122"/>
                <a:cs typeface="Calibri" pitchFamily="34" charset="-120"/>
              </a:rPr>
              <a:t>The Executive Team is choosing which genres, budget band, film lengths, and directors to back when allocating the $500M.</a:t>
            </a:r>
            <a:endParaRPr lang="en-US" sz="1500" dirty="0"/>
          </a:p>
        </p:txBody>
      </p:sp>
      <p:sp>
        <p:nvSpPr>
          <p:cNvPr id="8" name="Shape 6"/>
          <p:cNvSpPr/>
          <p:nvPr/>
        </p:nvSpPr>
        <p:spPr>
          <a:xfrm>
            <a:off x="548640" y="4343400"/>
            <a:ext cx="3566160" cy="1737360"/>
          </a:xfrm>
          <a:prstGeom prst="roundRect">
            <a:avLst>
              <a:gd name="adj" fmla="val 4211"/>
            </a:avLst>
          </a:prstGeom>
          <a:solidFill>
            <a:srgbClr val="FFFFFF"/>
          </a:solidFill>
          <a:ln w="12700">
            <a:solidFill>
              <a:srgbClr val="E2E6F0"/>
            </a:solidFill>
            <a:prstDash val="solid"/>
          </a:ln>
          <a:effectLst>
            <a:outerShdw blurRad="76200" dist="25400" dir="5400000" algn="bl" rotWithShape="0">
              <a:srgbClr val="9099B5">
                <a:alpha val="25000"/>
              </a:srgbClr>
            </a:outerShdw>
          </a:effectLst>
        </p:spPr>
      </p:sp>
      <p:sp>
        <p:nvSpPr>
          <p:cNvPr id="9" name="Text 7"/>
          <p:cNvSpPr/>
          <p:nvPr/>
        </p:nvSpPr>
        <p:spPr>
          <a:xfrm>
            <a:off x="640080" y="4453128"/>
            <a:ext cx="3383280" cy="955548"/>
          </a:xfrm>
          <a:prstGeom prst="rect">
            <a:avLst/>
          </a:prstGeom>
          <a:noFill/>
          <a:ln/>
        </p:spPr>
        <p:txBody>
          <a:bodyPr wrap="square" lIns="0" tIns="0" rIns="0" bIns="0" rtlCol="0" anchor="b"/>
          <a:lstStyle/>
          <a:p>
            <a:pPr marL="0" indent="0" algn="ctr">
              <a:buNone/>
            </a:pPr>
            <a:r>
              <a:rPr lang="en-US" sz="3200" b="1" dirty="0">
                <a:solidFill>
                  <a:srgbClr val="D9A441"/>
                </a:solidFill>
                <a:latin typeface="Cambria" pitchFamily="34" charset="0"/>
                <a:ea typeface="Cambria" pitchFamily="34" charset="-122"/>
                <a:cs typeface="Cambria" pitchFamily="34" charset="-120"/>
              </a:rPr>
              <a:t>$500M</a:t>
            </a:r>
            <a:endParaRPr lang="en-US" sz="3200" dirty="0"/>
          </a:p>
        </p:txBody>
      </p:sp>
      <p:sp>
        <p:nvSpPr>
          <p:cNvPr id="10" name="Text 8"/>
          <p:cNvSpPr/>
          <p:nvPr/>
        </p:nvSpPr>
        <p:spPr>
          <a:xfrm>
            <a:off x="640080" y="5385816"/>
            <a:ext cx="3383280" cy="608076"/>
          </a:xfrm>
          <a:prstGeom prst="rect">
            <a:avLst/>
          </a:prstGeom>
          <a:noFill/>
          <a:ln/>
        </p:spPr>
        <p:txBody>
          <a:bodyPr wrap="square" lIns="0" tIns="0" rIns="0" bIns="0" rtlCol="0" anchor="t"/>
          <a:lstStyle/>
          <a:p>
            <a:pPr marL="0" indent="0" algn="ctr">
              <a:buNone/>
            </a:pPr>
            <a:r>
              <a:rPr lang="en-US" sz="1200" dirty="0">
                <a:solidFill>
                  <a:srgbClr val="5B6472"/>
                </a:solidFill>
                <a:latin typeface="Calibri" pitchFamily="34" charset="0"/>
                <a:ea typeface="Calibri" pitchFamily="34" charset="-122"/>
                <a:cs typeface="Calibri" pitchFamily="34" charset="-120"/>
              </a:rPr>
              <a:t>Investment under</a:t>
            </a:r>
            <a:endParaRPr lang="en-US" sz="1200" dirty="0"/>
          </a:p>
          <a:p>
            <a:pPr marL="0" indent="0" algn="ctr">
              <a:buNone/>
            </a:pPr>
            <a:r>
              <a:rPr lang="en-US" sz="1200" dirty="0">
                <a:solidFill>
                  <a:srgbClr val="5B6472"/>
                </a:solidFill>
                <a:latin typeface="Calibri" pitchFamily="34" charset="0"/>
                <a:ea typeface="Calibri" pitchFamily="34" charset="-122"/>
                <a:cs typeface="Calibri" pitchFamily="34" charset="-120"/>
              </a:rPr>
              <a:t>consideration</a:t>
            </a:r>
            <a:endParaRPr lang="en-US" sz="1200" dirty="0"/>
          </a:p>
        </p:txBody>
      </p:sp>
      <p:sp>
        <p:nvSpPr>
          <p:cNvPr id="11" name="Shape 9"/>
          <p:cNvSpPr/>
          <p:nvPr/>
        </p:nvSpPr>
        <p:spPr>
          <a:xfrm>
            <a:off x="4297680" y="4343400"/>
            <a:ext cx="3566160" cy="1737360"/>
          </a:xfrm>
          <a:prstGeom prst="roundRect">
            <a:avLst>
              <a:gd name="adj" fmla="val 4211"/>
            </a:avLst>
          </a:prstGeom>
          <a:solidFill>
            <a:srgbClr val="FFFFFF"/>
          </a:solidFill>
          <a:ln w="12700">
            <a:solidFill>
              <a:srgbClr val="E2E6F0"/>
            </a:solidFill>
            <a:prstDash val="solid"/>
          </a:ln>
          <a:effectLst>
            <a:outerShdw blurRad="76200" dist="25400" dir="5400000" algn="bl" rotWithShape="0">
              <a:srgbClr val="9099B5">
                <a:alpha val="25000"/>
              </a:srgbClr>
            </a:outerShdw>
          </a:effectLst>
        </p:spPr>
      </p:sp>
      <p:sp>
        <p:nvSpPr>
          <p:cNvPr id="12" name="Text 10"/>
          <p:cNvSpPr/>
          <p:nvPr/>
        </p:nvSpPr>
        <p:spPr>
          <a:xfrm>
            <a:off x="4389120" y="4453128"/>
            <a:ext cx="3383280" cy="955548"/>
          </a:xfrm>
          <a:prstGeom prst="rect">
            <a:avLst/>
          </a:prstGeom>
          <a:noFill/>
          <a:ln/>
        </p:spPr>
        <p:txBody>
          <a:bodyPr wrap="square" lIns="0" tIns="0" rIns="0" bIns="0" rtlCol="0" anchor="b"/>
          <a:lstStyle/>
          <a:p>
            <a:pPr marL="0" indent="0" algn="ctr">
              <a:buNone/>
            </a:pPr>
            <a:r>
              <a:rPr lang="en-US" sz="3000" b="1" dirty="0">
                <a:solidFill>
                  <a:srgbClr val="1E2761"/>
                </a:solidFill>
                <a:latin typeface="Cambria" pitchFamily="34" charset="0"/>
                <a:ea typeface="Cambria" pitchFamily="34" charset="-122"/>
                <a:cs typeface="Cambria" pitchFamily="34" charset="-120"/>
              </a:rPr>
              <a:t>10,865</a:t>
            </a:r>
            <a:endParaRPr lang="en-US" sz="3000" dirty="0"/>
          </a:p>
        </p:txBody>
      </p:sp>
      <p:sp>
        <p:nvSpPr>
          <p:cNvPr id="13" name="Text 11"/>
          <p:cNvSpPr/>
          <p:nvPr/>
        </p:nvSpPr>
        <p:spPr>
          <a:xfrm>
            <a:off x="4389120" y="5385816"/>
            <a:ext cx="3383280" cy="608076"/>
          </a:xfrm>
          <a:prstGeom prst="rect">
            <a:avLst/>
          </a:prstGeom>
          <a:noFill/>
          <a:ln/>
        </p:spPr>
        <p:txBody>
          <a:bodyPr wrap="square" lIns="0" tIns="0" rIns="0" bIns="0" rtlCol="0" anchor="t"/>
          <a:lstStyle/>
          <a:p>
            <a:pPr marL="0" indent="0" algn="ctr">
              <a:buNone/>
            </a:pPr>
            <a:r>
              <a:rPr lang="en-US" sz="1200" dirty="0">
                <a:solidFill>
                  <a:srgbClr val="5B6472"/>
                </a:solidFill>
                <a:latin typeface="Calibri" pitchFamily="34" charset="0"/>
                <a:ea typeface="Calibri" pitchFamily="34" charset="-122"/>
                <a:cs typeface="Calibri" pitchFamily="34" charset="-120"/>
              </a:rPr>
              <a:t>Total films analysed</a:t>
            </a:r>
            <a:endParaRPr lang="en-US" sz="1200" dirty="0"/>
          </a:p>
          <a:p>
            <a:pPr marL="0" indent="0" algn="ctr">
              <a:buNone/>
            </a:pPr>
            <a:r>
              <a:rPr lang="en-US" sz="1200" dirty="0">
                <a:solidFill>
                  <a:srgbClr val="5B6472"/>
                </a:solidFill>
                <a:latin typeface="Calibri" pitchFamily="34" charset="0"/>
                <a:ea typeface="Calibri" pitchFamily="34" charset="-122"/>
                <a:cs typeface="Calibri" pitchFamily="34" charset="-120"/>
              </a:rPr>
              <a:t>(1960 – 2015)</a:t>
            </a:r>
            <a:endParaRPr lang="en-US" sz="1200" dirty="0"/>
          </a:p>
        </p:txBody>
      </p:sp>
      <p:sp>
        <p:nvSpPr>
          <p:cNvPr id="14" name="Shape 12"/>
          <p:cNvSpPr/>
          <p:nvPr/>
        </p:nvSpPr>
        <p:spPr>
          <a:xfrm>
            <a:off x="8046720" y="4343400"/>
            <a:ext cx="3566160" cy="1737360"/>
          </a:xfrm>
          <a:prstGeom prst="roundRect">
            <a:avLst>
              <a:gd name="adj" fmla="val 4211"/>
            </a:avLst>
          </a:prstGeom>
          <a:solidFill>
            <a:srgbClr val="FFFFFF"/>
          </a:solidFill>
          <a:ln w="12700">
            <a:solidFill>
              <a:srgbClr val="E2E6F0"/>
            </a:solidFill>
            <a:prstDash val="solid"/>
          </a:ln>
          <a:effectLst>
            <a:outerShdw blurRad="76200" dist="25400" dir="5400000" algn="bl" rotWithShape="0">
              <a:srgbClr val="9099B5">
                <a:alpha val="25000"/>
              </a:srgbClr>
            </a:outerShdw>
          </a:effectLst>
        </p:spPr>
      </p:sp>
      <p:sp>
        <p:nvSpPr>
          <p:cNvPr id="15" name="Text 13"/>
          <p:cNvSpPr/>
          <p:nvPr/>
        </p:nvSpPr>
        <p:spPr>
          <a:xfrm>
            <a:off x="8138160" y="4453128"/>
            <a:ext cx="3383280" cy="955548"/>
          </a:xfrm>
          <a:prstGeom prst="rect">
            <a:avLst/>
          </a:prstGeom>
          <a:noFill/>
          <a:ln/>
        </p:spPr>
        <p:txBody>
          <a:bodyPr wrap="square" lIns="0" tIns="0" rIns="0" bIns="0" rtlCol="0" anchor="b"/>
          <a:lstStyle/>
          <a:p>
            <a:pPr marL="0" indent="0" algn="ctr">
              <a:buNone/>
            </a:pPr>
            <a:r>
              <a:rPr lang="en-US" sz="3000" b="1" dirty="0">
                <a:solidFill>
                  <a:srgbClr val="1E2761"/>
                </a:solidFill>
                <a:latin typeface="Cambria" pitchFamily="34" charset="0"/>
                <a:ea typeface="Cambria" pitchFamily="34" charset="-122"/>
                <a:cs typeface="Cambria" pitchFamily="34" charset="-120"/>
              </a:rPr>
              <a:t>3,854</a:t>
            </a:r>
            <a:endParaRPr lang="en-US" sz="3000" dirty="0"/>
          </a:p>
        </p:txBody>
      </p:sp>
      <p:sp>
        <p:nvSpPr>
          <p:cNvPr id="16" name="Text 14"/>
          <p:cNvSpPr/>
          <p:nvPr/>
        </p:nvSpPr>
        <p:spPr>
          <a:xfrm>
            <a:off x="8138160" y="5385816"/>
            <a:ext cx="3383280" cy="608076"/>
          </a:xfrm>
          <a:prstGeom prst="rect">
            <a:avLst/>
          </a:prstGeom>
          <a:noFill/>
          <a:ln/>
        </p:spPr>
        <p:txBody>
          <a:bodyPr wrap="square" lIns="0" tIns="0" rIns="0" bIns="0" rtlCol="0" anchor="t"/>
          <a:lstStyle/>
          <a:p>
            <a:pPr marL="0" indent="0" algn="ctr">
              <a:buNone/>
            </a:pPr>
            <a:r>
              <a:rPr lang="en-US" sz="1200" dirty="0">
                <a:solidFill>
                  <a:srgbClr val="5B6472"/>
                </a:solidFill>
                <a:latin typeface="Calibri" pitchFamily="34" charset="0"/>
                <a:ea typeface="Calibri" pitchFamily="34" charset="-122"/>
                <a:cs typeface="Calibri" pitchFamily="34" charset="-120"/>
              </a:rPr>
              <a:t>Films with reliable</a:t>
            </a:r>
            <a:endParaRPr lang="en-US" sz="1200" dirty="0"/>
          </a:p>
          <a:p>
            <a:pPr marL="0" indent="0" algn="ctr">
              <a:buNone/>
            </a:pPr>
            <a:r>
              <a:rPr lang="en-US" sz="1200" dirty="0">
                <a:solidFill>
                  <a:srgbClr val="5B6472"/>
                </a:solidFill>
                <a:latin typeface="Calibri" pitchFamily="34" charset="0"/>
                <a:ea typeface="Calibri" pitchFamily="34" charset="-122"/>
                <a:cs typeface="Calibri" pitchFamily="34" charset="-120"/>
              </a:rPr>
              <a:t>budget &amp; revenue data</a:t>
            </a:r>
            <a:endParaRPr lang="en-US" sz="1200" dirty="0"/>
          </a:p>
        </p:txBody>
      </p:sp>
      <p:sp>
        <p:nvSpPr>
          <p:cNvPr id="17" name="Text 15"/>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5486400" cy="320040"/>
          </a:xfrm>
          <a:prstGeom prst="rect">
            <a:avLst/>
          </a:prstGeom>
          <a:noFill/>
          <a:ln/>
        </p:spPr>
        <p:txBody>
          <a:bodyPr wrap="square"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DEFINE</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How We'll Measure Success</a:t>
            </a:r>
            <a:endParaRPr lang="en-US" sz="3200" dirty="0"/>
          </a:p>
        </p:txBody>
      </p:sp>
      <p:sp>
        <p:nvSpPr>
          <p:cNvPr id="4" name="Shape 2"/>
          <p:cNvSpPr/>
          <p:nvPr/>
        </p:nvSpPr>
        <p:spPr>
          <a:xfrm>
            <a:off x="548640" y="1737360"/>
            <a:ext cx="2651760" cy="1371600"/>
          </a:xfrm>
          <a:prstGeom prst="roundRect">
            <a:avLst>
              <a:gd name="adj" fmla="val 5333"/>
            </a:avLst>
          </a:prstGeom>
          <a:solidFill>
            <a:srgbClr val="1E2761"/>
          </a:solidFill>
          <a:ln/>
        </p:spPr>
      </p:sp>
      <p:sp>
        <p:nvSpPr>
          <p:cNvPr id="5" name="Text 3"/>
          <p:cNvSpPr/>
          <p:nvPr/>
        </p:nvSpPr>
        <p:spPr>
          <a:xfrm>
            <a:off x="685800" y="1828800"/>
            <a:ext cx="2377440" cy="45720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Profit</a:t>
            </a:r>
            <a:endParaRPr lang="en-US" sz="1700" dirty="0"/>
          </a:p>
        </p:txBody>
      </p:sp>
      <p:sp>
        <p:nvSpPr>
          <p:cNvPr id="6" name="Text 4"/>
          <p:cNvSpPr/>
          <p:nvPr/>
        </p:nvSpPr>
        <p:spPr>
          <a:xfrm>
            <a:off x="685800" y="2331720"/>
            <a:ext cx="2377440" cy="640080"/>
          </a:xfrm>
          <a:prstGeom prst="rect">
            <a:avLst/>
          </a:prstGeom>
          <a:noFill/>
          <a:ln/>
        </p:spPr>
        <p:txBody>
          <a:bodyPr wrap="square" rtlCol="0" anchor="ctr"/>
          <a:lstStyle/>
          <a:p>
            <a:pPr marL="0" indent="0">
              <a:buNone/>
            </a:pPr>
            <a:r>
              <a:rPr lang="en-US" sz="1250" dirty="0">
                <a:solidFill>
                  <a:srgbClr val="CADCFC"/>
                </a:solidFill>
                <a:latin typeface="Calibri" pitchFamily="34" charset="0"/>
                <a:ea typeface="Calibri" pitchFamily="34" charset="-122"/>
                <a:cs typeface="Calibri" pitchFamily="34" charset="-120"/>
              </a:rPr>
              <a:t>revenue_adj − budget_adj</a:t>
            </a:r>
            <a:endParaRPr lang="en-US" sz="1250" dirty="0"/>
          </a:p>
        </p:txBody>
      </p:sp>
      <p:sp>
        <p:nvSpPr>
          <p:cNvPr id="7" name="Shape 5"/>
          <p:cNvSpPr/>
          <p:nvPr/>
        </p:nvSpPr>
        <p:spPr>
          <a:xfrm>
            <a:off x="3337560" y="1737360"/>
            <a:ext cx="2651760" cy="1371600"/>
          </a:xfrm>
          <a:prstGeom prst="roundRect">
            <a:avLst>
              <a:gd name="adj" fmla="val 5333"/>
            </a:avLst>
          </a:prstGeom>
          <a:solidFill>
            <a:srgbClr val="1E2761"/>
          </a:solidFill>
          <a:ln/>
        </p:spPr>
      </p:sp>
      <p:sp>
        <p:nvSpPr>
          <p:cNvPr id="8" name="Text 6"/>
          <p:cNvSpPr/>
          <p:nvPr/>
        </p:nvSpPr>
        <p:spPr>
          <a:xfrm>
            <a:off x="3474720" y="1828800"/>
            <a:ext cx="2377440" cy="45720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ROI</a:t>
            </a:r>
            <a:endParaRPr lang="en-US" sz="1700" dirty="0"/>
          </a:p>
        </p:txBody>
      </p:sp>
      <p:sp>
        <p:nvSpPr>
          <p:cNvPr id="9" name="Text 7"/>
          <p:cNvSpPr/>
          <p:nvPr/>
        </p:nvSpPr>
        <p:spPr>
          <a:xfrm>
            <a:off x="3474720" y="2331720"/>
            <a:ext cx="2377440" cy="640080"/>
          </a:xfrm>
          <a:prstGeom prst="rect">
            <a:avLst/>
          </a:prstGeom>
          <a:noFill/>
          <a:ln/>
        </p:spPr>
        <p:txBody>
          <a:bodyPr wrap="square" rtlCol="0" anchor="ctr"/>
          <a:lstStyle/>
          <a:p>
            <a:pPr marL="0" indent="0">
              <a:buNone/>
            </a:pPr>
            <a:r>
              <a:rPr lang="en-US" sz="1250" dirty="0">
                <a:solidFill>
                  <a:srgbClr val="CADCFC"/>
                </a:solidFill>
                <a:latin typeface="Calibri" pitchFamily="34" charset="0"/>
                <a:ea typeface="Calibri" pitchFamily="34" charset="-122"/>
                <a:cs typeface="Calibri" pitchFamily="34" charset="-120"/>
              </a:rPr>
              <a:t>Profit ÷ budget_adj</a:t>
            </a:r>
            <a:endParaRPr lang="en-US" sz="1250" dirty="0"/>
          </a:p>
        </p:txBody>
      </p:sp>
      <p:sp>
        <p:nvSpPr>
          <p:cNvPr id="10" name="Shape 8"/>
          <p:cNvSpPr/>
          <p:nvPr/>
        </p:nvSpPr>
        <p:spPr>
          <a:xfrm>
            <a:off x="6126480" y="1737360"/>
            <a:ext cx="2651760" cy="1371600"/>
          </a:xfrm>
          <a:prstGeom prst="roundRect">
            <a:avLst>
              <a:gd name="adj" fmla="val 5333"/>
            </a:avLst>
          </a:prstGeom>
          <a:solidFill>
            <a:srgbClr val="1E2761"/>
          </a:solidFill>
          <a:ln/>
        </p:spPr>
      </p:sp>
      <p:sp>
        <p:nvSpPr>
          <p:cNvPr id="11" name="Text 9"/>
          <p:cNvSpPr/>
          <p:nvPr/>
        </p:nvSpPr>
        <p:spPr>
          <a:xfrm>
            <a:off x="6263640" y="1828800"/>
            <a:ext cx="2377440" cy="45720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Average Rating</a:t>
            </a:r>
            <a:endParaRPr lang="en-US" sz="1700" dirty="0"/>
          </a:p>
        </p:txBody>
      </p:sp>
      <p:sp>
        <p:nvSpPr>
          <p:cNvPr id="12" name="Text 10"/>
          <p:cNvSpPr/>
          <p:nvPr/>
        </p:nvSpPr>
        <p:spPr>
          <a:xfrm>
            <a:off x="6263640" y="2331720"/>
            <a:ext cx="2377440" cy="640080"/>
          </a:xfrm>
          <a:prstGeom prst="rect">
            <a:avLst/>
          </a:prstGeom>
          <a:noFill/>
          <a:ln/>
        </p:spPr>
        <p:txBody>
          <a:bodyPr wrap="square" rtlCol="0" anchor="ctr"/>
          <a:lstStyle/>
          <a:p>
            <a:pPr marL="0" indent="0">
              <a:buNone/>
            </a:pPr>
            <a:r>
              <a:rPr lang="en-US" sz="1250" dirty="0">
                <a:solidFill>
                  <a:srgbClr val="CADCFC"/>
                </a:solidFill>
                <a:latin typeface="Calibri" pitchFamily="34" charset="0"/>
                <a:ea typeface="Calibri" pitchFamily="34" charset="-122"/>
                <a:cs typeface="Calibri" pitchFamily="34" charset="-120"/>
              </a:rPr>
              <a:t>vote_average</a:t>
            </a:r>
            <a:endParaRPr lang="en-US" sz="1250" dirty="0"/>
          </a:p>
        </p:txBody>
      </p:sp>
      <p:sp>
        <p:nvSpPr>
          <p:cNvPr id="13" name="Shape 11"/>
          <p:cNvSpPr/>
          <p:nvPr/>
        </p:nvSpPr>
        <p:spPr>
          <a:xfrm>
            <a:off x="8915400" y="1737360"/>
            <a:ext cx="2651760" cy="1371600"/>
          </a:xfrm>
          <a:prstGeom prst="roundRect">
            <a:avLst>
              <a:gd name="adj" fmla="val 5333"/>
            </a:avLst>
          </a:prstGeom>
          <a:solidFill>
            <a:srgbClr val="1E2761"/>
          </a:solidFill>
          <a:ln/>
        </p:spPr>
      </p:sp>
      <p:sp>
        <p:nvSpPr>
          <p:cNvPr id="14" name="Text 12"/>
          <p:cNvSpPr/>
          <p:nvPr/>
        </p:nvSpPr>
        <p:spPr>
          <a:xfrm>
            <a:off x="9052560" y="1828800"/>
            <a:ext cx="2377440" cy="45720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Film Count</a:t>
            </a:r>
            <a:endParaRPr lang="en-US" sz="1700" dirty="0"/>
          </a:p>
        </p:txBody>
      </p:sp>
      <p:sp>
        <p:nvSpPr>
          <p:cNvPr id="15" name="Text 13"/>
          <p:cNvSpPr/>
          <p:nvPr/>
        </p:nvSpPr>
        <p:spPr>
          <a:xfrm>
            <a:off x="9052560" y="2331720"/>
            <a:ext cx="2377440" cy="640080"/>
          </a:xfrm>
          <a:prstGeom prst="rect">
            <a:avLst/>
          </a:prstGeom>
          <a:noFill/>
          <a:ln/>
        </p:spPr>
        <p:txBody>
          <a:bodyPr wrap="square" rtlCol="0" anchor="ctr"/>
          <a:lstStyle/>
          <a:p>
            <a:pPr marL="0" indent="0">
              <a:buNone/>
            </a:pPr>
            <a:r>
              <a:rPr lang="en-US" sz="1250" dirty="0">
                <a:solidFill>
                  <a:srgbClr val="CADCFC"/>
                </a:solidFill>
                <a:latin typeface="Calibri" pitchFamily="34" charset="0"/>
                <a:ea typeface="Calibri" pitchFamily="34" charset="-122"/>
                <a:cs typeface="Calibri" pitchFamily="34" charset="-120"/>
              </a:rPr>
              <a:t>Count of valid films</a:t>
            </a:r>
            <a:endParaRPr lang="en-US" sz="1250" dirty="0"/>
          </a:p>
        </p:txBody>
      </p:sp>
      <p:sp>
        <p:nvSpPr>
          <p:cNvPr id="16" name="Text 14"/>
          <p:cNvSpPr/>
          <p:nvPr/>
        </p:nvSpPr>
        <p:spPr>
          <a:xfrm>
            <a:off x="548640" y="3429000"/>
            <a:ext cx="5486400" cy="365760"/>
          </a:xfrm>
          <a:prstGeom prst="rect">
            <a:avLst/>
          </a:prstGeom>
          <a:noFill/>
          <a:ln/>
        </p:spPr>
        <p:txBody>
          <a:bodyPr wrap="square"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Why adjusted (2010-dollar) figures?</a:t>
            </a:r>
            <a:endParaRPr lang="en-US" sz="1800" dirty="0"/>
          </a:p>
        </p:txBody>
      </p:sp>
      <p:sp>
        <p:nvSpPr>
          <p:cNvPr id="17" name="Text 15"/>
          <p:cNvSpPr/>
          <p:nvPr/>
        </p:nvSpPr>
        <p:spPr>
          <a:xfrm>
            <a:off x="548640" y="3840480"/>
            <a:ext cx="5577840" cy="1901952"/>
          </a:xfrm>
          <a:prstGeom prst="rect">
            <a:avLst/>
          </a:prstGeom>
          <a:noFill/>
          <a:ln/>
        </p:spPr>
        <p:txBody>
          <a:bodyPr wrap="square" rtlCol="0" anchor="t"/>
          <a:lstStyle/>
          <a:p>
            <a:pPr marL="0" indent="0">
              <a:buNone/>
            </a:pPr>
            <a:r>
              <a:rPr lang="en-US" sz="1450" dirty="0">
                <a:solidFill>
                  <a:srgbClr val="5B6472"/>
                </a:solidFill>
                <a:latin typeface="Calibri" pitchFamily="34" charset="0"/>
                <a:ea typeface="Calibri" pitchFamily="34" charset="-122"/>
                <a:cs typeface="Calibri" pitchFamily="34" charset="-120"/>
              </a:rPr>
              <a:t>The dataset is from 1960 to 2015, raw budget and revenue figures aren't comparable across decades due to inflation. Inflation here means a dollar in the 1960s bought far more than a dollar in the 2010s. Using the adjusted columns converts every film's budget and revenue into 2010 dollar equivalents, so decades can be compared fairly. Without this adjustment, later decades would appear more profitable simply because of rising costs and prices, not because the films themselves performed better.</a:t>
            </a:r>
            <a:br>
              <a:rPr lang="en-US" sz="1450" dirty="0">
                <a:solidFill>
                  <a:srgbClr val="5B6472"/>
                </a:solidFill>
                <a:latin typeface="Calibri" pitchFamily="34" charset="0"/>
                <a:ea typeface="Calibri" pitchFamily="34" charset="-122"/>
                <a:cs typeface="Calibri" pitchFamily="34" charset="-120"/>
              </a:rPr>
            </a:br>
            <a:endParaRPr lang="en-US" sz="1450" dirty="0"/>
          </a:p>
        </p:txBody>
      </p:sp>
      <p:sp>
        <p:nvSpPr>
          <p:cNvPr id="18" name="Text 16"/>
          <p:cNvSpPr/>
          <p:nvPr/>
        </p:nvSpPr>
        <p:spPr>
          <a:xfrm>
            <a:off x="6492240" y="3429000"/>
            <a:ext cx="5120640" cy="365760"/>
          </a:xfrm>
          <a:prstGeom prst="rect">
            <a:avLst/>
          </a:prstGeom>
          <a:noFill/>
          <a:ln/>
        </p:spPr>
        <p:txBody>
          <a:bodyPr wrap="square"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Why exclude $0 budget/revenue rows?</a:t>
            </a:r>
            <a:endParaRPr lang="en-US" sz="1800" dirty="0"/>
          </a:p>
        </p:txBody>
      </p:sp>
      <p:sp>
        <p:nvSpPr>
          <p:cNvPr id="19" name="Text 17"/>
          <p:cNvSpPr/>
          <p:nvPr/>
        </p:nvSpPr>
        <p:spPr>
          <a:xfrm>
            <a:off x="6492240" y="3840480"/>
            <a:ext cx="5120640" cy="1645920"/>
          </a:xfrm>
          <a:prstGeom prst="rect">
            <a:avLst/>
          </a:prstGeom>
          <a:noFill/>
          <a:ln/>
        </p:spPr>
        <p:txBody>
          <a:bodyPr wrap="square" rtlCol="0" anchor="t"/>
          <a:lstStyle/>
          <a:p>
            <a:pPr marL="0" indent="0">
              <a:buNone/>
            </a:pPr>
            <a:r>
              <a:rPr lang="en-US" sz="1450" dirty="0">
                <a:solidFill>
                  <a:srgbClr val="5B6472"/>
                </a:solidFill>
                <a:latin typeface="Calibri" pitchFamily="34" charset="0"/>
                <a:ea typeface="Calibri" pitchFamily="34" charset="-122"/>
                <a:cs typeface="Calibri" pitchFamily="34" charset="-120"/>
              </a:rPr>
              <a:t>A $0 value means the figure was never recorded, not that the film was free. Left in, ROI would involve dividing by zero. These rows are dropped from every money question (Q1 to Q6) leaving 3,854 of 10,865 films.</a:t>
            </a:r>
            <a:endParaRPr lang="en-US" sz="1450" dirty="0"/>
          </a:p>
        </p:txBody>
      </p:sp>
      <p:sp>
        <p:nvSpPr>
          <p:cNvPr id="20" name="Text 18"/>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548640" y="365760"/>
            <a:ext cx="5486400" cy="320040"/>
          </a:xfrm>
          <a:prstGeom prst="rect">
            <a:avLst/>
          </a:prstGeom>
          <a:noFill/>
          <a:ln/>
        </p:spPr>
        <p:txBody>
          <a:bodyPr wrap="square"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RETRIEVE</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Cleaning the Data</a:t>
            </a:r>
            <a:endParaRPr lang="en-US" sz="3200" dirty="0"/>
          </a:p>
        </p:txBody>
      </p:sp>
      <p:sp>
        <p:nvSpPr>
          <p:cNvPr id="4" name="Shape 2"/>
          <p:cNvSpPr/>
          <p:nvPr/>
        </p:nvSpPr>
        <p:spPr>
          <a:xfrm>
            <a:off x="548640" y="1737360"/>
            <a:ext cx="3566160" cy="1920240"/>
          </a:xfrm>
          <a:prstGeom prst="roundRect">
            <a:avLst>
              <a:gd name="adj" fmla="val 3810"/>
            </a:avLst>
          </a:prstGeom>
          <a:solidFill>
            <a:srgbClr val="FFFFFF"/>
          </a:solidFill>
          <a:ln w="12700">
            <a:solidFill>
              <a:srgbClr val="E2E6F0"/>
            </a:solidFill>
            <a:prstDash val="solid"/>
          </a:ln>
          <a:effectLst>
            <a:outerShdw blurRad="76200" dist="25400" dir="5400000" algn="bl" rotWithShape="0">
              <a:srgbClr val="9099B5">
                <a:alpha val="25000"/>
              </a:srgbClr>
            </a:outerShdw>
          </a:effectLst>
        </p:spPr>
      </p:sp>
      <p:sp>
        <p:nvSpPr>
          <p:cNvPr id="5" name="Text 3"/>
          <p:cNvSpPr/>
          <p:nvPr/>
        </p:nvSpPr>
        <p:spPr>
          <a:xfrm>
            <a:off x="640080" y="1847088"/>
            <a:ext cx="3383280" cy="1056132"/>
          </a:xfrm>
          <a:prstGeom prst="rect">
            <a:avLst/>
          </a:prstGeom>
          <a:noFill/>
          <a:ln/>
        </p:spPr>
        <p:txBody>
          <a:bodyPr wrap="square" lIns="0" tIns="0" rIns="0" bIns="0" rtlCol="0" anchor="b"/>
          <a:lstStyle/>
          <a:p>
            <a:pPr marL="0" indent="0" algn="ctr">
              <a:buNone/>
            </a:pPr>
            <a:r>
              <a:rPr lang="en-US" sz="3400" b="1" dirty="0">
                <a:solidFill>
                  <a:srgbClr val="1E2761"/>
                </a:solidFill>
                <a:latin typeface="Cambria" pitchFamily="34" charset="0"/>
                <a:ea typeface="Cambria" pitchFamily="34" charset="-122"/>
                <a:cs typeface="Cambria" pitchFamily="34" charset="-120"/>
              </a:rPr>
              <a:t>10,865</a:t>
            </a:r>
            <a:endParaRPr lang="en-US" sz="3400" dirty="0"/>
          </a:p>
        </p:txBody>
      </p:sp>
      <p:sp>
        <p:nvSpPr>
          <p:cNvPr id="6" name="Text 4"/>
          <p:cNvSpPr/>
          <p:nvPr/>
        </p:nvSpPr>
        <p:spPr>
          <a:xfrm>
            <a:off x="640080" y="2889504"/>
            <a:ext cx="3383280" cy="672084"/>
          </a:xfrm>
          <a:prstGeom prst="rect">
            <a:avLst/>
          </a:prstGeom>
          <a:noFill/>
          <a:ln/>
        </p:spPr>
        <p:txBody>
          <a:bodyPr wrap="square" lIns="0" tIns="0" rIns="0" bIns="0" rtlCol="0" anchor="t"/>
          <a:lstStyle/>
          <a:p>
            <a:pPr marL="0" indent="0" algn="ctr">
              <a:buNone/>
            </a:pPr>
            <a:r>
              <a:rPr lang="en-US" sz="1200" dirty="0">
                <a:solidFill>
                  <a:srgbClr val="5B6472"/>
                </a:solidFill>
                <a:latin typeface="Calibri" pitchFamily="34" charset="0"/>
                <a:ea typeface="Calibri" pitchFamily="34" charset="-122"/>
                <a:cs typeface="Calibri" pitchFamily="34" charset="-120"/>
              </a:rPr>
              <a:t>Films in the raw dataset</a:t>
            </a:r>
            <a:endParaRPr lang="en-US" sz="1200" dirty="0"/>
          </a:p>
        </p:txBody>
      </p:sp>
      <p:sp>
        <p:nvSpPr>
          <p:cNvPr id="7" name="Shape 5"/>
          <p:cNvSpPr/>
          <p:nvPr/>
        </p:nvSpPr>
        <p:spPr>
          <a:xfrm>
            <a:off x="4343400" y="2743200"/>
            <a:ext cx="640080" cy="0"/>
          </a:xfrm>
          <a:prstGeom prst="line">
            <a:avLst/>
          </a:prstGeom>
          <a:noFill/>
          <a:ln w="38100">
            <a:solidFill>
              <a:srgbClr val="D9A441"/>
            </a:solidFill>
            <a:prstDash val="solid"/>
          </a:ln>
        </p:spPr>
      </p:sp>
      <p:sp>
        <p:nvSpPr>
          <p:cNvPr id="8" name="Shape 6"/>
          <p:cNvSpPr/>
          <p:nvPr/>
        </p:nvSpPr>
        <p:spPr>
          <a:xfrm>
            <a:off x="5120640" y="1737360"/>
            <a:ext cx="3566160" cy="1920240"/>
          </a:xfrm>
          <a:prstGeom prst="roundRect">
            <a:avLst>
              <a:gd name="adj" fmla="val 3810"/>
            </a:avLst>
          </a:prstGeom>
          <a:solidFill>
            <a:srgbClr val="FFFFFF"/>
          </a:solidFill>
          <a:ln w="12700">
            <a:solidFill>
              <a:srgbClr val="E2E6F0"/>
            </a:solidFill>
            <a:prstDash val="solid"/>
          </a:ln>
          <a:effectLst>
            <a:outerShdw blurRad="76200" dist="25400" dir="5400000" algn="bl" rotWithShape="0">
              <a:srgbClr val="9099B5">
                <a:alpha val="25000"/>
              </a:srgbClr>
            </a:outerShdw>
          </a:effectLst>
        </p:spPr>
      </p:sp>
      <p:sp>
        <p:nvSpPr>
          <p:cNvPr id="9" name="Text 7"/>
          <p:cNvSpPr/>
          <p:nvPr/>
        </p:nvSpPr>
        <p:spPr>
          <a:xfrm>
            <a:off x="5212080" y="1847088"/>
            <a:ext cx="3383280" cy="1056132"/>
          </a:xfrm>
          <a:prstGeom prst="rect">
            <a:avLst/>
          </a:prstGeom>
          <a:noFill/>
          <a:ln/>
        </p:spPr>
        <p:txBody>
          <a:bodyPr wrap="square" lIns="0" tIns="0" rIns="0" bIns="0" rtlCol="0" anchor="b"/>
          <a:lstStyle/>
          <a:p>
            <a:pPr marL="0" indent="0" algn="ctr">
              <a:buNone/>
            </a:pPr>
            <a:r>
              <a:rPr lang="en-US" sz="3400" b="1" dirty="0">
                <a:solidFill>
                  <a:srgbClr val="D9A441"/>
                </a:solidFill>
                <a:latin typeface="Cambria" pitchFamily="34" charset="0"/>
                <a:ea typeface="Cambria" pitchFamily="34" charset="-122"/>
                <a:cs typeface="Cambria" pitchFamily="34" charset="-120"/>
              </a:rPr>
              <a:t>3,854</a:t>
            </a:r>
            <a:endParaRPr lang="en-US" sz="3400" dirty="0"/>
          </a:p>
        </p:txBody>
      </p:sp>
      <p:sp>
        <p:nvSpPr>
          <p:cNvPr id="10" name="Text 8"/>
          <p:cNvSpPr/>
          <p:nvPr/>
        </p:nvSpPr>
        <p:spPr>
          <a:xfrm>
            <a:off x="5212080" y="2889504"/>
            <a:ext cx="3383280" cy="672084"/>
          </a:xfrm>
          <a:prstGeom prst="rect">
            <a:avLst/>
          </a:prstGeom>
          <a:noFill/>
          <a:ln/>
        </p:spPr>
        <p:txBody>
          <a:bodyPr wrap="square" lIns="0" tIns="0" rIns="0" bIns="0" rtlCol="0" anchor="t"/>
          <a:lstStyle/>
          <a:p>
            <a:pPr marL="0" indent="0" algn="ctr">
              <a:buNone/>
            </a:pPr>
            <a:r>
              <a:rPr lang="en-US" sz="1200" dirty="0">
                <a:solidFill>
                  <a:srgbClr val="5B6472"/>
                </a:solidFill>
                <a:latin typeface="Calibri" pitchFamily="34" charset="0"/>
                <a:ea typeface="Calibri" pitchFamily="34" charset="-122"/>
                <a:cs typeface="Calibri" pitchFamily="34" charset="-120"/>
              </a:rPr>
              <a:t>Films with usable</a:t>
            </a:r>
            <a:endParaRPr lang="en-US" sz="1200" dirty="0"/>
          </a:p>
          <a:p>
            <a:pPr marL="0" indent="0" algn="ctr">
              <a:buNone/>
            </a:pPr>
            <a:r>
              <a:rPr lang="en-US" sz="1200" dirty="0">
                <a:solidFill>
                  <a:srgbClr val="5B6472"/>
                </a:solidFill>
                <a:latin typeface="Calibri" pitchFamily="34" charset="0"/>
                <a:ea typeface="Calibri" pitchFamily="34" charset="-122"/>
                <a:cs typeface="Calibri" pitchFamily="34" charset="-120"/>
              </a:rPr>
              <a:t>budget &amp; revenue data</a:t>
            </a:r>
            <a:endParaRPr lang="en-US" sz="1200" dirty="0"/>
          </a:p>
        </p:txBody>
      </p:sp>
      <p:sp>
        <p:nvSpPr>
          <p:cNvPr id="11" name="Shape 9"/>
          <p:cNvSpPr/>
          <p:nvPr/>
        </p:nvSpPr>
        <p:spPr>
          <a:xfrm>
            <a:off x="9646920" y="1737360"/>
            <a:ext cx="2011680" cy="1920240"/>
          </a:xfrm>
          <a:prstGeom prst="roundRect">
            <a:avLst>
              <a:gd name="adj" fmla="val 3810"/>
            </a:avLst>
          </a:prstGeom>
          <a:solidFill>
            <a:srgbClr val="FFFFFF"/>
          </a:solidFill>
          <a:ln w="12700">
            <a:solidFill>
              <a:srgbClr val="E2E6F0"/>
            </a:solidFill>
            <a:prstDash val="solid"/>
          </a:ln>
          <a:effectLst>
            <a:outerShdw blurRad="76200" dist="25400" dir="5400000" algn="bl" rotWithShape="0">
              <a:srgbClr val="9099B5">
                <a:alpha val="25000"/>
              </a:srgbClr>
            </a:outerShdw>
          </a:effectLst>
        </p:spPr>
      </p:sp>
      <p:sp>
        <p:nvSpPr>
          <p:cNvPr id="12" name="Text 10"/>
          <p:cNvSpPr/>
          <p:nvPr/>
        </p:nvSpPr>
        <p:spPr>
          <a:xfrm>
            <a:off x="9738360" y="1847088"/>
            <a:ext cx="1828800" cy="1056132"/>
          </a:xfrm>
          <a:prstGeom prst="rect">
            <a:avLst/>
          </a:prstGeom>
          <a:noFill/>
          <a:ln/>
        </p:spPr>
        <p:txBody>
          <a:bodyPr wrap="square" lIns="0" tIns="0" rIns="0" bIns="0" rtlCol="0" anchor="b"/>
          <a:lstStyle/>
          <a:p>
            <a:pPr marL="0" indent="0" algn="ctr">
              <a:buNone/>
            </a:pPr>
            <a:r>
              <a:rPr lang="en-US" sz="3000" b="1" dirty="0">
                <a:solidFill>
                  <a:srgbClr val="1E2761"/>
                </a:solidFill>
                <a:latin typeface="Cambria" pitchFamily="34" charset="0"/>
                <a:ea typeface="Cambria" pitchFamily="34" charset="-122"/>
              </a:rPr>
              <a:t>20</a:t>
            </a:r>
            <a:endParaRPr lang="en-US" sz="3000" dirty="0"/>
          </a:p>
        </p:txBody>
      </p:sp>
      <p:sp>
        <p:nvSpPr>
          <p:cNvPr id="13" name="Text 11"/>
          <p:cNvSpPr/>
          <p:nvPr/>
        </p:nvSpPr>
        <p:spPr>
          <a:xfrm>
            <a:off x="9738360" y="2889504"/>
            <a:ext cx="1828800" cy="672084"/>
          </a:xfrm>
          <a:prstGeom prst="rect">
            <a:avLst/>
          </a:prstGeom>
          <a:noFill/>
          <a:ln/>
        </p:spPr>
        <p:txBody>
          <a:bodyPr wrap="square" lIns="0" tIns="0" rIns="0" bIns="0" rtlCol="0" anchor="t"/>
          <a:lstStyle/>
          <a:p>
            <a:pPr marL="0" indent="0" algn="ctr">
              <a:buNone/>
            </a:pPr>
            <a:r>
              <a:rPr lang="en-US" sz="1050" dirty="0">
                <a:solidFill>
                  <a:srgbClr val="5B6472"/>
                </a:solidFill>
                <a:latin typeface="Calibri" pitchFamily="34" charset="0"/>
                <a:ea typeface="Calibri" pitchFamily="34" charset="-122"/>
                <a:cs typeface="Calibri" pitchFamily="34" charset="-120"/>
              </a:rPr>
              <a:t>Primary genres</a:t>
            </a:r>
            <a:endParaRPr lang="en-US" sz="1050" dirty="0"/>
          </a:p>
        </p:txBody>
      </p:sp>
      <p:sp>
        <p:nvSpPr>
          <p:cNvPr id="14" name="Text 12"/>
          <p:cNvSpPr/>
          <p:nvPr/>
        </p:nvSpPr>
        <p:spPr>
          <a:xfrm>
            <a:off x="548640" y="3977640"/>
            <a:ext cx="5486400" cy="365760"/>
          </a:xfrm>
          <a:prstGeom prst="rect">
            <a:avLst/>
          </a:prstGeom>
          <a:noFill/>
          <a:ln/>
        </p:spPr>
        <p:txBody>
          <a:bodyPr wrap="square"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Key cleaning steps</a:t>
            </a:r>
            <a:endParaRPr lang="en-US" sz="1800" dirty="0"/>
          </a:p>
        </p:txBody>
      </p:sp>
      <p:sp>
        <p:nvSpPr>
          <p:cNvPr id="15" name="Text 13"/>
          <p:cNvSpPr/>
          <p:nvPr/>
        </p:nvSpPr>
        <p:spPr>
          <a:xfrm>
            <a:off x="548640" y="4389120"/>
            <a:ext cx="11064240" cy="2011680"/>
          </a:xfrm>
          <a:prstGeom prst="rect">
            <a:avLst/>
          </a:prstGeom>
          <a:noFill/>
          <a:ln/>
        </p:spPr>
        <p:txBody>
          <a:bodyPr wrap="square" rtlCol="0" anchor="t"/>
          <a:lstStyle/>
          <a:p>
            <a:pPr marL="342900" indent="-342900">
              <a:spcAft>
                <a:spcPts val="1000"/>
              </a:spcAft>
              <a:buSzPct val="100000"/>
              <a:buChar char="●"/>
            </a:pPr>
            <a:r>
              <a:rPr lang="en-US" sz="1500" dirty="0">
                <a:solidFill>
                  <a:srgbClr val="5B6472"/>
                </a:solidFill>
                <a:latin typeface="Calibri" pitchFamily="34" charset="0"/>
                <a:ea typeface="Calibri" pitchFamily="34" charset="-122"/>
                <a:cs typeface="Calibri" pitchFamily="34" charset="-120"/>
              </a:rPr>
              <a:t>Removed 1 duplicate row (a 2010 video-game adaptation listed twice)</a:t>
            </a:r>
            <a:endParaRPr lang="en-US" sz="1500" dirty="0"/>
          </a:p>
          <a:p>
            <a:pPr marL="342900" indent="-342900">
              <a:spcAft>
                <a:spcPts val="1000"/>
              </a:spcAft>
              <a:buSzPct val="100000"/>
              <a:buChar char="●"/>
            </a:pPr>
            <a:r>
              <a:rPr lang="en-US" sz="1500" dirty="0">
                <a:solidFill>
                  <a:srgbClr val="5B6472"/>
                </a:solidFill>
                <a:latin typeface="Calibri" pitchFamily="34" charset="0"/>
                <a:ea typeface="Calibri" pitchFamily="34" charset="-122"/>
                <a:cs typeface="Calibri" pitchFamily="34" charset="-120"/>
              </a:rPr>
              <a:t>Flagged MoneyDataOK = Yes only where budget_adj and revenue_adj are both &gt; 0</a:t>
            </a:r>
            <a:endParaRPr lang="en-US" sz="1500" dirty="0"/>
          </a:p>
          <a:p>
            <a:pPr marL="342900" indent="-342900">
              <a:spcAft>
                <a:spcPts val="1000"/>
              </a:spcAft>
              <a:buSzPct val="100000"/>
              <a:buChar char="●"/>
            </a:pPr>
            <a:r>
              <a:rPr lang="en-US" sz="1500" dirty="0">
                <a:solidFill>
                  <a:srgbClr val="5B6472"/>
                </a:solidFill>
                <a:latin typeface="Calibri" pitchFamily="34" charset="0"/>
                <a:ea typeface="Calibri" pitchFamily="34" charset="-122"/>
                <a:cs typeface="Calibri" pitchFamily="34" charset="-120"/>
              </a:rPr>
              <a:t>Extracted Primary Genre from pipe-separated genre lists</a:t>
            </a:r>
            <a:endParaRPr lang="en-US" sz="1500" dirty="0"/>
          </a:p>
          <a:p>
            <a:pPr marL="342900" indent="-342900">
              <a:spcAft>
                <a:spcPts val="1000"/>
              </a:spcAft>
              <a:buSzPct val="100000"/>
              <a:buChar char="●"/>
            </a:pPr>
            <a:r>
              <a:rPr lang="en-US" sz="1500" dirty="0">
                <a:solidFill>
                  <a:srgbClr val="5B6472"/>
                </a:solidFill>
                <a:latin typeface="Calibri" pitchFamily="34" charset="0"/>
                <a:ea typeface="Calibri" pitchFamily="34" charset="-122"/>
                <a:cs typeface="Calibri" pitchFamily="34" charset="-120"/>
              </a:rPr>
              <a:t>Built Runtime Band, Budget Band and Decade categories for grouping</a:t>
            </a:r>
            <a:endParaRPr lang="en-US" sz="1500" dirty="0"/>
          </a:p>
        </p:txBody>
      </p:sp>
      <p:sp>
        <p:nvSpPr>
          <p:cNvPr id="16" name="Text 14"/>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5486400" cy="320040"/>
          </a:xfrm>
          <a:prstGeom prst="rect">
            <a:avLst/>
          </a:prstGeom>
          <a:noFill/>
          <a:ln/>
        </p:spPr>
        <p:txBody>
          <a:bodyPr wrap="square"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INSIGHT  —  Q1</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Blockbusters Dominate the Profit Leaderboard</a:t>
            </a:r>
            <a:endParaRPr lang="en-US" sz="3200" dirty="0"/>
          </a:p>
        </p:txBody>
      </p:sp>
      <p:sp>
        <p:nvSpPr>
          <p:cNvPr id="5" name="Text 2"/>
          <p:cNvSpPr/>
          <p:nvPr/>
        </p:nvSpPr>
        <p:spPr>
          <a:xfrm>
            <a:off x="7818120" y="1783080"/>
            <a:ext cx="3840480" cy="68580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Spectacle sells but risk is invisible here</a:t>
            </a:r>
            <a:endParaRPr lang="en-US" sz="1600" dirty="0"/>
          </a:p>
        </p:txBody>
      </p:sp>
      <p:sp>
        <p:nvSpPr>
          <p:cNvPr id="6" name="Text 3"/>
          <p:cNvSpPr/>
          <p:nvPr/>
        </p:nvSpPr>
        <p:spPr>
          <a:xfrm>
            <a:off x="7818120" y="2423160"/>
            <a:ext cx="3840480" cy="1920240"/>
          </a:xfrm>
          <a:prstGeom prst="rect">
            <a:avLst/>
          </a:prstGeom>
          <a:noFill/>
          <a:ln/>
        </p:spPr>
        <p:txBody>
          <a:bodyPr wrap="square" rtlCol="0" anchor="t"/>
          <a:lstStyle/>
          <a:p>
            <a:pPr marL="0" indent="0">
              <a:buNone/>
            </a:pPr>
            <a:r>
              <a:rPr lang="en-US" sz="1350" dirty="0">
                <a:solidFill>
                  <a:srgbClr val="5B6472"/>
                </a:solidFill>
                <a:latin typeface="Calibri" pitchFamily="34" charset="0"/>
                <a:ea typeface="Calibri" pitchFamily="34" charset="-122"/>
                <a:cs typeface="Calibri" pitchFamily="34" charset="-120"/>
              </a:rPr>
              <a:t>The all-time top 10 is dominated by big-budget blockbusters and franchise titles like Avatar, Titanic, Star Wars, The Exorcist spanning multiple decades. High-profile spectacle films can generate outsized returns even against large budgets.</a:t>
            </a:r>
            <a:endParaRPr lang="en-US" sz="1350" dirty="0"/>
          </a:p>
        </p:txBody>
      </p:sp>
      <p:sp>
        <p:nvSpPr>
          <p:cNvPr id="7" name="Shape 4"/>
          <p:cNvSpPr/>
          <p:nvPr/>
        </p:nvSpPr>
        <p:spPr>
          <a:xfrm>
            <a:off x="7818120" y="4526280"/>
            <a:ext cx="3840480" cy="1417320"/>
          </a:xfrm>
          <a:prstGeom prst="roundRect">
            <a:avLst>
              <a:gd name="adj" fmla="val 5161"/>
            </a:avLst>
          </a:prstGeom>
          <a:solidFill>
            <a:srgbClr val="1E2761"/>
          </a:solidFill>
          <a:ln/>
        </p:spPr>
      </p:sp>
      <p:sp>
        <p:nvSpPr>
          <p:cNvPr id="8" name="Text 5"/>
          <p:cNvSpPr/>
          <p:nvPr/>
        </p:nvSpPr>
        <p:spPr>
          <a:xfrm>
            <a:off x="8001000" y="4663440"/>
            <a:ext cx="3474720" cy="1143000"/>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A Top 10 list alone can't show us the films that spent just as big and failed, that risk stays invisible.</a:t>
            </a:r>
            <a:endParaRPr lang="en-US" sz="1350" dirty="0"/>
          </a:p>
        </p:txBody>
      </p:sp>
      <p:sp>
        <p:nvSpPr>
          <p:cNvPr id="9" name="Text 6"/>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5</a:t>
            </a:r>
            <a:endParaRPr lang="en-US" sz="1000" dirty="0"/>
          </a:p>
        </p:txBody>
      </p:sp>
      <p:pic>
        <p:nvPicPr>
          <p:cNvPr id="11" name="Picture 10">
            <a:extLst>
              <a:ext uri="{FF2B5EF4-FFF2-40B4-BE49-F238E27FC236}">
                <a16:creationId xmlns:a16="http://schemas.microsoft.com/office/drawing/2014/main" id="{859815E0-BAFE-4A19-A0D5-435DA9F4067A}"/>
              </a:ext>
            </a:extLst>
          </p:cNvPr>
          <p:cNvPicPr>
            <a:picLocks noChangeAspect="1"/>
          </p:cNvPicPr>
          <p:nvPr/>
        </p:nvPicPr>
        <p:blipFill>
          <a:blip r:embed="rId3"/>
          <a:stretch>
            <a:fillRect/>
          </a:stretch>
        </p:blipFill>
        <p:spPr>
          <a:xfrm>
            <a:off x="308343" y="1684417"/>
            <a:ext cx="7226313" cy="425918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5486400" cy="320040"/>
          </a:xfrm>
          <a:prstGeom prst="rect">
            <a:avLst/>
          </a:prstGeom>
          <a:noFill/>
          <a:ln/>
        </p:spPr>
        <p:txBody>
          <a:bodyPr wrap="square"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INSIGHT  —  Q2</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Adventure, Animation &amp; Family Lead Profit</a:t>
            </a:r>
            <a:endParaRPr lang="en-US" sz="3200" dirty="0"/>
          </a:p>
        </p:txBody>
      </p:sp>
      <p:graphicFrame>
        <p:nvGraphicFramePr>
          <p:cNvPr id="4" name="Chart 0"/>
          <p:cNvGraphicFramePr/>
          <p:nvPr>
            <p:extLst>
              <p:ext uri="{D42A27DB-BD31-4B8C-83A1-F6EECF244321}">
                <p14:modId xmlns:p14="http://schemas.microsoft.com/office/powerpoint/2010/main" val="1393036217"/>
              </p:ext>
            </p:extLst>
          </p:nvPr>
        </p:nvGraphicFramePr>
        <p:xfrm>
          <a:off x="548640" y="1737360"/>
          <a:ext cx="694944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7818120" y="1783080"/>
            <a:ext cx="3840480" cy="36576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Ratings hold up too</a:t>
            </a:r>
            <a:endParaRPr lang="en-US" sz="1700" dirty="0"/>
          </a:p>
        </p:txBody>
      </p:sp>
      <p:sp>
        <p:nvSpPr>
          <p:cNvPr id="6" name="Text 3"/>
          <p:cNvSpPr/>
          <p:nvPr/>
        </p:nvSpPr>
        <p:spPr>
          <a:xfrm>
            <a:off x="7818120" y="2194560"/>
            <a:ext cx="3840480" cy="1371600"/>
          </a:xfrm>
          <a:prstGeom prst="rect">
            <a:avLst/>
          </a:prstGeom>
          <a:noFill/>
          <a:ln/>
        </p:spPr>
        <p:txBody>
          <a:bodyPr wrap="square" rtlCol="0" anchor="t"/>
          <a:lstStyle/>
          <a:p>
            <a:pPr marL="0" indent="0">
              <a:buNone/>
            </a:pPr>
            <a:r>
              <a:rPr lang="en-US" sz="1350" dirty="0">
                <a:solidFill>
                  <a:srgbClr val="5B6472"/>
                </a:solidFill>
                <a:latin typeface="Calibri" pitchFamily="34" charset="0"/>
                <a:ea typeface="Calibri" pitchFamily="34" charset="-122"/>
                <a:cs typeface="Calibri" pitchFamily="34" charset="-120"/>
              </a:rPr>
              <a:t>The top 3 genres by profit all rate between 6.1 to 6.4  better than most other genres. Backing these genres doesn't mean trading away quality.</a:t>
            </a:r>
            <a:endParaRPr lang="en-US" sz="1350" dirty="0"/>
          </a:p>
        </p:txBody>
      </p:sp>
      <p:sp>
        <p:nvSpPr>
          <p:cNvPr id="7" name="Shape 4"/>
          <p:cNvSpPr/>
          <p:nvPr/>
        </p:nvSpPr>
        <p:spPr>
          <a:xfrm>
            <a:off x="7818120" y="3749040"/>
            <a:ext cx="3840480" cy="2148840"/>
          </a:xfrm>
          <a:prstGeom prst="roundRect">
            <a:avLst>
              <a:gd name="adj" fmla="val 3404"/>
            </a:avLst>
          </a:prstGeom>
          <a:solidFill>
            <a:srgbClr val="1E2761"/>
          </a:solidFill>
          <a:ln/>
        </p:spPr>
      </p:sp>
      <p:sp>
        <p:nvSpPr>
          <p:cNvPr id="8" name="Text 5"/>
          <p:cNvSpPr/>
          <p:nvPr/>
        </p:nvSpPr>
        <p:spPr>
          <a:xfrm>
            <a:off x="8001000" y="3886200"/>
            <a:ext cx="3474720" cy="320040"/>
          </a:xfrm>
          <a:prstGeom prst="rect">
            <a:avLst/>
          </a:prstGeom>
          <a:noFill/>
          <a:ln/>
        </p:spPr>
        <p:txBody>
          <a:bodyPr wrap="square" rtlCol="0" anchor="ctr"/>
          <a:lstStyle/>
          <a:p>
            <a:pPr marL="0" indent="0">
              <a:buNone/>
            </a:pPr>
            <a:r>
              <a:rPr lang="en-US" sz="1200" b="1" kern="0" spc="100" dirty="0">
                <a:solidFill>
                  <a:srgbClr val="D9A441"/>
                </a:solidFill>
                <a:latin typeface="Calibri" pitchFamily="34" charset="0"/>
                <a:ea typeface="Calibri" pitchFamily="34" charset="-122"/>
                <a:cs typeface="Calibri" pitchFamily="34" charset="-120"/>
              </a:rPr>
              <a:t>Recommendation</a:t>
            </a:r>
            <a:endParaRPr lang="en-US" sz="1200" dirty="0"/>
          </a:p>
        </p:txBody>
      </p:sp>
      <p:sp>
        <p:nvSpPr>
          <p:cNvPr id="9" name="Text 6"/>
          <p:cNvSpPr/>
          <p:nvPr/>
        </p:nvSpPr>
        <p:spPr>
          <a:xfrm>
            <a:off x="8001000" y="4206240"/>
            <a:ext cx="3474720" cy="1645920"/>
          </a:xfrm>
          <a:prstGeom prst="rect">
            <a:avLst/>
          </a:prstGeom>
          <a:noFill/>
          <a:ln/>
        </p:spPr>
        <p:txBody>
          <a:bodyPr wrap="square" rtlCol="0" anchor="t"/>
          <a:lstStyle/>
          <a:p>
            <a:pPr marL="0" indent="0">
              <a:buNone/>
            </a:pPr>
            <a:r>
              <a:rPr lang="en-US" sz="1400" dirty="0">
                <a:solidFill>
                  <a:srgbClr val="FFFFFF"/>
                </a:solidFill>
                <a:latin typeface="Calibri" pitchFamily="34" charset="0"/>
                <a:ea typeface="Calibri" pitchFamily="34" charset="-122"/>
                <a:cs typeface="Calibri" pitchFamily="34" charset="-120"/>
              </a:rPr>
              <a:t>Prioritise Adventure, Animation and Family films, the highest-profit genres without sacrificing audience rating.</a:t>
            </a:r>
            <a:endParaRPr lang="en-US" sz="1400" dirty="0"/>
          </a:p>
        </p:txBody>
      </p:sp>
      <p:sp>
        <p:nvSpPr>
          <p:cNvPr id="10" name="Text 7"/>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5486400" cy="320040"/>
          </a:xfrm>
          <a:prstGeom prst="rect">
            <a:avLst/>
          </a:prstGeom>
          <a:noFill/>
          <a:ln/>
        </p:spPr>
        <p:txBody>
          <a:bodyPr wrap="square"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INSIGHT  —  Q3</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Bigger Budgets, Bigger Profits (With Wide Variance)</a:t>
            </a:r>
            <a:endParaRPr lang="en-US" sz="3200" dirty="0"/>
          </a:p>
        </p:txBody>
      </p:sp>
      <p:sp>
        <p:nvSpPr>
          <p:cNvPr id="5" name="Shape 2"/>
          <p:cNvSpPr/>
          <p:nvPr/>
        </p:nvSpPr>
        <p:spPr>
          <a:xfrm>
            <a:off x="7818120" y="1737360"/>
            <a:ext cx="3840480" cy="1371600"/>
          </a:xfrm>
          <a:prstGeom prst="roundRect">
            <a:avLst>
              <a:gd name="adj" fmla="val 5333"/>
            </a:avLst>
          </a:prstGeom>
          <a:solidFill>
            <a:srgbClr val="FFFFFF"/>
          </a:solidFill>
          <a:ln w="12700">
            <a:solidFill>
              <a:srgbClr val="E2E6F0"/>
            </a:solidFill>
            <a:prstDash val="solid"/>
          </a:ln>
          <a:effectLst>
            <a:outerShdw blurRad="76200" dist="25400" dir="5400000" algn="bl" rotWithShape="0">
              <a:srgbClr val="9099B5">
                <a:alpha val="25000"/>
              </a:srgbClr>
            </a:outerShdw>
          </a:effectLst>
        </p:spPr>
      </p:sp>
      <p:sp>
        <p:nvSpPr>
          <p:cNvPr id="6" name="Text 3"/>
          <p:cNvSpPr/>
          <p:nvPr/>
        </p:nvSpPr>
        <p:spPr>
          <a:xfrm>
            <a:off x="7909560" y="1847088"/>
            <a:ext cx="3657600" cy="754380"/>
          </a:xfrm>
          <a:prstGeom prst="rect">
            <a:avLst/>
          </a:prstGeom>
          <a:noFill/>
          <a:ln/>
        </p:spPr>
        <p:txBody>
          <a:bodyPr wrap="square" lIns="0" tIns="0" rIns="0" bIns="0" rtlCol="0" anchor="b"/>
          <a:lstStyle/>
          <a:p>
            <a:pPr marL="0" indent="0" algn="ctr">
              <a:buNone/>
            </a:pPr>
            <a:r>
              <a:rPr lang="en-US" sz="3200" b="1" dirty="0">
                <a:solidFill>
                  <a:srgbClr val="D9A441"/>
                </a:solidFill>
                <a:latin typeface="Cambria" pitchFamily="34" charset="0"/>
                <a:ea typeface="Cambria" pitchFamily="34" charset="-122"/>
                <a:cs typeface="Cambria" pitchFamily="34" charset="-120"/>
              </a:rPr>
              <a:t>0.57</a:t>
            </a:r>
            <a:endParaRPr lang="en-US" sz="3200" dirty="0"/>
          </a:p>
        </p:txBody>
      </p:sp>
      <p:sp>
        <p:nvSpPr>
          <p:cNvPr id="7" name="Text 4"/>
          <p:cNvSpPr/>
          <p:nvPr/>
        </p:nvSpPr>
        <p:spPr>
          <a:xfrm>
            <a:off x="7909560" y="2560320"/>
            <a:ext cx="3657600" cy="480060"/>
          </a:xfrm>
          <a:prstGeom prst="rect">
            <a:avLst/>
          </a:prstGeom>
          <a:noFill/>
          <a:ln/>
        </p:spPr>
        <p:txBody>
          <a:bodyPr wrap="square" lIns="0" tIns="0" rIns="0" bIns="0" rtlCol="0" anchor="t"/>
          <a:lstStyle/>
          <a:p>
            <a:pPr marL="0" indent="0" algn="ctr">
              <a:buNone/>
            </a:pPr>
            <a:r>
              <a:rPr lang="en-US" sz="1150" dirty="0">
                <a:solidFill>
                  <a:srgbClr val="5B6472"/>
                </a:solidFill>
                <a:latin typeface="Calibri" pitchFamily="34" charset="0"/>
                <a:ea typeface="Calibri" pitchFamily="34" charset="-122"/>
                <a:cs typeface="Calibri" pitchFamily="34" charset="-120"/>
              </a:rPr>
              <a:t>Correlation between budget</a:t>
            </a:r>
            <a:endParaRPr lang="en-US" sz="1150" dirty="0"/>
          </a:p>
          <a:p>
            <a:pPr marL="0" indent="0" algn="ctr">
              <a:buNone/>
            </a:pPr>
            <a:r>
              <a:rPr lang="en-US" sz="1150" dirty="0">
                <a:solidFill>
                  <a:srgbClr val="5B6472"/>
                </a:solidFill>
                <a:latin typeface="Calibri" pitchFamily="34" charset="0"/>
                <a:ea typeface="Calibri" pitchFamily="34" charset="-122"/>
                <a:cs typeface="Calibri" pitchFamily="34" charset="-120"/>
              </a:rPr>
              <a:t>and revenue:  real, but moderate</a:t>
            </a:r>
            <a:endParaRPr lang="en-US" sz="1150" dirty="0"/>
          </a:p>
        </p:txBody>
      </p:sp>
      <p:sp>
        <p:nvSpPr>
          <p:cNvPr id="8" name="Text 5"/>
          <p:cNvSpPr/>
          <p:nvPr/>
        </p:nvSpPr>
        <p:spPr>
          <a:xfrm>
            <a:off x="7818120" y="3246120"/>
            <a:ext cx="3840480" cy="1371600"/>
          </a:xfrm>
          <a:prstGeom prst="rect">
            <a:avLst/>
          </a:prstGeom>
          <a:noFill/>
          <a:ln/>
        </p:spPr>
        <p:txBody>
          <a:bodyPr wrap="square" rtlCol="0" anchor="t"/>
          <a:lstStyle/>
          <a:p>
            <a:pPr marL="0" indent="0">
              <a:buNone/>
            </a:pPr>
            <a:r>
              <a:rPr lang="en-US" sz="1350" dirty="0">
                <a:solidFill>
                  <a:srgbClr val="5B6472"/>
                </a:solidFill>
                <a:latin typeface="Calibri" pitchFamily="34" charset="0"/>
                <a:ea typeface="Calibri" pitchFamily="34" charset="-122"/>
                <a:cs typeface="Calibri" pitchFamily="34" charset="-120"/>
              </a:rPr>
              <a:t>Budget size shifts the odds but doesn't guarantee results, a companion scatter shows plenty of low-budget films outperforming, and big-budget films underperforming, their size.</a:t>
            </a:r>
            <a:endParaRPr lang="en-US" sz="1350" dirty="0"/>
          </a:p>
        </p:txBody>
      </p:sp>
      <p:sp>
        <p:nvSpPr>
          <p:cNvPr id="9" name="Shape 6"/>
          <p:cNvSpPr/>
          <p:nvPr/>
        </p:nvSpPr>
        <p:spPr>
          <a:xfrm>
            <a:off x="7818120" y="4709160"/>
            <a:ext cx="3840480" cy="1234440"/>
          </a:xfrm>
          <a:prstGeom prst="roundRect">
            <a:avLst>
              <a:gd name="adj" fmla="val 5926"/>
            </a:avLst>
          </a:prstGeom>
          <a:solidFill>
            <a:srgbClr val="1E2761"/>
          </a:solidFill>
          <a:ln/>
        </p:spPr>
      </p:sp>
      <p:sp>
        <p:nvSpPr>
          <p:cNvPr id="10" name="Text 7"/>
          <p:cNvSpPr/>
          <p:nvPr/>
        </p:nvSpPr>
        <p:spPr>
          <a:xfrm>
            <a:off x="8001000" y="4846320"/>
            <a:ext cx="3474720" cy="1005840"/>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Match budget size to genre and director track record don't chase size alone.</a:t>
            </a:r>
            <a:endParaRPr lang="en-US" sz="1350" dirty="0"/>
          </a:p>
        </p:txBody>
      </p:sp>
      <p:sp>
        <p:nvSpPr>
          <p:cNvPr id="11" name="Text 8"/>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7</a:t>
            </a:r>
            <a:endParaRPr lang="en-US" sz="1000" dirty="0"/>
          </a:p>
        </p:txBody>
      </p:sp>
      <p:pic>
        <p:nvPicPr>
          <p:cNvPr id="15" name="Picture 14">
            <a:extLst>
              <a:ext uri="{FF2B5EF4-FFF2-40B4-BE49-F238E27FC236}">
                <a16:creationId xmlns:a16="http://schemas.microsoft.com/office/drawing/2014/main" id="{24C436C0-FE6A-4FF6-9C43-0C3E692716E8}"/>
              </a:ext>
            </a:extLst>
          </p:cNvPr>
          <p:cNvPicPr>
            <a:picLocks noChangeAspect="1"/>
          </p:cNvPicPr>
          <p:nvPr/>
        </p:nvPicPr>
        <p:blipFill rotWithShape="1">
          <a:blip r:embed="rId3"/>
          <a:srcRect l="1773" t="446" r="1"/>
          <a:stretch/>
        </p:blipFill>
        <p:spPr>
          <a:xfrm>
            <a:off x="1014984" y="1773936"/>
            <a:ext cx="6080760" cy="407822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5486400" cy="320040"/>
          </a:xfrm>
          <a:prstGeom prst="rect">
            <a:avLst/>
          </a:prstGeom>
          <a:noFill/>
          <a:ln/>
        </p:spPr>
        <p:txBody>
          <a:bodyPr wrap="square"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INSIGHT  —  Q4</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Older Decades Look More Profitable, But Look out for Sample Size</a:t>
            </a:r>
            <a:endParaRPr lang="en-US" sz="3200" dirty="0"/>
          </a:p>
        </p:txBody>
      </p:sp>
      <p:sp>
        <p:nvSpPr>
          <p:cNvPr id="6" name="Text 3"/>
          <p:cNvSpPr/>
          <p:nvPr/>
        </p:nvSpPr>
        <p:spPr>
          <a:xfrm>
            <a:off x="7818120" y="1783080"/>
            <a:ext cx="3840480" cy="2377440"/>
          </a:xfrm>
          <a:prstGeom prst="rect">
            <a:avLst/>
          </a:prstGeom>
          <a:noFill/>
          <a:ln/>
        </p:spPr>
        <p:txBody>
          <a:bodyPr wrap="square" rtlCol="0" anchor="t"/>
          <a:lstStyle/>
          <a:p>
            <a:pPr marL="0" indent="0">
              <a:buNone/>
            </a:pPr>
            <a:r>
              <a:rPr lang="en-US" sz="1350" dirty="0">
                <a:solidFill>
                  <a:srgbClr val="5B6472"/>
                </a:solidFill>
                <a:latin typeface="Calibri" pitchFamily="34" charset="0"/>
                <a:ea typeface="Calibri" pitchFamily="34" charset="-122"/>
                <a:cs typeface="Calibri" pitchFamily="34" charset="-120"/>
              </a:rPr>
              <a:t>The 1960s–70s average profit is driven by a tiny sample, just 71–133 films. Where blockbusters like Jaws and Star Wars dominate the mean. Later decades have 750+ films each, diluting the average profit across many mid-performers.</a:t>
            </a:r>
            <a:endParaRPr lang="en-US" sz="1350" dirty="0"/>
          </a:p>
        </p:txBody>
      </p:sp>
      <p:sp>
        <p:nvSpPr>
          <p:cNvPr id="7" name="Shape 4"/>
          <p:cNvSpPr/>
          <p:nvPr/>
        </p:nvSpPr>
        <p:spPr>
          <a:xfrm>
            <a:off x="7818120" y="4297680"/>
            <a:ext cx="3840480" cy="1645920"/>
          </a:xfrm>
          <a:prstGeom prst="roundRect">
            <a:avLst>
              <a:gd name="adj" fmla="val 4444"/>
            </a:avLst>
          </a:prstGeom>
          <a:solidFill>
            <a:srgbClr val="1E2761"/>
          </a:solidFill>
          <a:ln/>
        </p:spPr>
      </p:sp>
      <p:sp>
        <p:nvSpPr>
          <p:cNvPr id="8" name="Text 5"/>
          <p:cNvSpPr/>
          <p:nvPr/>
        </p:nvSpPr>
        <p:spPr>
          <a:xfrm>
            <a:off x="8001000" y="4434840"/>
            <a:ext cx="3474720" cy="1371600"/>
          </a:xfrm>
          <a:prstGeom prst="rect">
            <a:avLst/>
          </a:prstGeom>
          <a:noFill/>
          <a:ln/>
        </p:spPr>
        <p:txBody>
          <a:bodyPr wrap="square" rtlCol="0" anchor="t"/>
          <a:lstStyle/>
          <a:p>
            <a:pPr marL="0" indent="0">
              <a:buNone/>
            </a:pPr>
            <a:r>
              <a:rPr lang="en-US" sz="1350" dirty="0">
                <a:solidFill>
                  <a:srgbClr val="FFFFFF"/>
                </a:solidFill>
                <a:latin typeface="Calibri" pitchFamily="34" charset="0"/>
                <a:ea typeface="Calibri" pitchFamily="34" charset="-122"/>
                <a:cs typeface="Calibri" pitchFamily="34" charset="-120"/>
              </a:rPr>
              <a:t>Total industry profit is likely far higher today, it's just spread across many more films. Recent decades are the more reliable baseline.</a:t>
            </a:r>
            <a:endParaRPr lang="en-US" sz="1350" dirty="0"/>
          </a:p>
        </p:txBody>
      </p:sp>
      <p:sp>
        <p:nvSpPr>
          <p:cNvPr id="9" name="Text 6"/>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8</a:t>
            </a:r>
            <a:endParaRPr lang="en-US" sz="1000" dirty="0"/>
          </a:p>
        </p:txBody>
      </p:sp>
      <p:pic>
        <p:nvPicPr>
          <p:cNvPr id="11" name="Picture 10">
            <a:extLst>
              <a:ext uri="{FF2B5EF4-FFF2-40B4-BE49-F238E27FC236}">
                <a16:creationId xmlns:a16="http://schemas.microsoft.com/office/drawing/2014/main" id="{8D70250E-3F91-4772-9A09-5E9D565315B1}"/>
              </a:ext>
            </a:extLst>
          </p:cNvPr>
          <p:cNvPicPr>
            <a:picLocks noChangeAspect="1"/>
          </p:cNvPicPr>
          <p:nvPr/>
        </p:nvPicPr>
        <p:blipFill>
          <a:blip r:embed="rId3"/>
          <a:stretch>
            <a:fillRect/>
          </a:stretch>
        </p:blipFill>
        <p:spPr>
          <a:xfrm>
            <a:off x="248495" y="1773936"/>
            <a:ext cx="7249585" cy="41696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5486400" cy="320040"/>
          </a:xfrm>
          <a:prstGeom prst="rect">
            <a:avLst/>
          </a:prstGeom>
          <a:noFill/>
          <a:ln/>
        </p:spPr>
        <p:txBody>
          <a:bodyPr wrap="square"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INSIGHT  —  Q5</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Two Kinds of “Bankable”</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6766560" cy="2926080"/>
        </p:xfrm>
        <a:graphic>
          <a:graphicData uri="http://schemas.openxmlformats.org/drawingml/2006/table">
            <a:tbl>
              <a:tblPr/>
              <a:tblGrid>
                <a:gridCol w="24688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487680">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Director</a:t>
                      </a:r>
                      <a:endParaRPr lang="en-US" sz="1350" dirty="0">
                        <a:latin typeface="Calibri" charset="0"/>
                        <a:ea typeface="Calibri" charset="0"/>
                        <a:cs typeface="Calibri"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1E2761"/>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Films</a:t>
                      </a:r>
                      <a:endParaRPr lang="en-US" sz="1350" dirty="0">
                        <a:latin typeface="Calibri" charset="0"/>
                        <a:ea typeface="Calibri" charset="0"/>
                        <a:cs typeface="Calibri"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1E2761"/>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Avg Rating</a:t>
                      </a:r>
                      <a:endParaRPr lang="en-US" sz="1350" dirty="0">
                        <a:latin typeface="Calibri" charset="0"/>
                        <a:ea typeface="Calibri" charset="0"/>
                        <a:cs typeface="Calibri"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1E2761"/>
                    </a:solidFill>
                  </a:tcPr>
                </a:tc>
                <a:tc>
                  <a:txBody>
                    <a:bodyPr/>
                    <a:lstStyle/>
                    <a:p>
                      <a:pPr marL="0" indent="0" algn="r">
                        <a:buNone/>
                      </a:pPr>
                      <a:r>
                        <a:rPr lang="en-US" sz="1350" b="1" dirty="0">
                          <a:solidFill>
                            <a:srgbClr val="FFFFFF"/>
                          </a:solidFill>
                          <a:latin typeface="Calibri" pitchFamily="34" charset="0"/>
                          <a:ea typeface="Calibri" pitchFamily="34" charset="-122"/>
                          <a:cs typeface="Calibri" pitchFamily="34" charset="-120"/>
                        </a:rPr>
                        <a:t>Total Profit ($M)</a:t>
                      </a:r>
                      <a:endParaRPr lang="en-US" sz="1350" dirty="0">
                        <a:latin typeface="Calibri" charset="0"/>
                        <a:ea typeface="Calibri" charset="0"/>
                        <a:cs typeface="Calibri"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87680">
                <a:tc>
                  <a:txBody>
                    <a:bodyPr/>
                    <a:lstStyle/>
                    <a:p>
                      <a:pPr marL="0" indent="0">
                        <a:buNone/>
                      </a:pPr>
                      <a:r>
                        <a:rPr lang="en-US" sz="1350" dirty="0">
                          <a:solidFill>
                            <a:srgbClr val="1E2761"/>
                          </a:solidFill>
                          <a:latin typeface="Calibri" pitchFamily="34" charset="0"/>
                          <a:ea typeface="Calibri" pitchFamily="34" charset="-122"/>
                          <a:cs typeface="Calibri" pitchFamily="34" charset="-120"/>
                        </a:rPr>
                        <a:t>Steven Spielberg</a:t>
                      </a:r>
                      <a:endParaRPr lang="en-US" sz="1350" dirty="0">
                        <a:latin typeface="Calibri" charset="0"/>
                        <a:ea typeface="Calibri" charset="0"/>
                        <a:cs typeface="Calibri"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5B6472"/>
                          </a:solidFill>
                          <a:latin typeface="Calibri" pitchFamily="34" charset="0"/>
                          <a:ea typeface="Calibri" pitchFamily="34" charset="-122"/>
                          <a:cs typeface="Calibri" pitchFamily="34" charset="-120"/>
                        </a:rPr>
                        <a:t>27</a:t>
                      </a:r>
                      <a:endParaRPr lang="en-US" sz="1350" dirty="0">
                        <a:latin typeface="Calibri" charset="0"/>
                        <a:ea typeface="Calibri" charset="0"/>
                        <a:cs typeface="Calibri"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5B6472"/>
                          </a:solidFill>
                          <a:latin typeface="Calibri" pitchFamily="34" charset="0"/>
                          <a:ea typeface="Calibri" pitchFamily="34" charset="-122"/>
                          <a:cs typeface="Calibri" pitchFamily="34" charset="-120"/>
                        </a:rPr>
                        <a:t>6.81</a:t>
                      </a:r>
                      <a:endParaRPr lang="en-US" sz="1350" dirty="0">
                        <a:latin typeface="Calibri" charset="0"/>
                        <a:ea typeface="Calibri" charset="0"/>
                        <a:cs typeface="Calibri"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marL="0" indent="0" algn="r">
                        <a:buNone/>
                      </a:pPr>
                      <a:r>
                        <a:rPr lang="en-US" sz="1350" b="1" dirty="0">
                          <a:solidFill>
                            <a:srgbClr val="1E2761"/>
                          </a:solidFill>
                          <a:latin typeface="Calibri" pitchFamily="34" charset="0"/>
                          <a:ea typeface="Calibri" pitchFamily="34" charset="-122"/>
                          <a:cs typeface="Calibri" pitchFamily="34" charset="-120"/>
                        </a:rPr>
                        <a:t>13,126.0</a:t>
                      </a:r>
                      <a:endParaRPr lang="en-US" sz="1350" dirty="0">
                        <a:latin typeface="Calibri" charset="0"/>
                        <a:ea typeface="Calibri" charset="0"/>
                        <a:cs typeface="Calibri"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7680">
                <a:tc>
                  <a:txBody>
                    <a:bodyPr/>
                    <a:lstStyle/>
                    <a:p>
                      <a:pPr marL="0" indent="0">
                        <a:buNone/>
                      </a:pPr>
                      <a:r>
                        <a:rPr lang="en-US" sz="1350" dirty="0">
                          <a:solidFill>
                            <a:srgbClr val="1E2761"/>
                          </a:solidFill>
                          <a:latin typeface="Calibri" pitchFamily="34" charset="0"/>
                          <a:ea typeface="Calibri" pitchFamily="34" charset="-122"/>
                          <a:cs typeface="Calibri" pitchFamily="34" charset="-120"/>
                        </a:rPr>
                        <a:t>James Cameron</a:t>
                      </a:r>
                      <a:endParaRPr lang="en-US" sz="1350" dirty="0">
                        <a:latin typeface="Calibri" charset="0"/>
                        <a:ea typeface="Calibri" charset="0"/>
                        <a:cs typeface="Calibri"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7F8FC"/>
                    </a:solidFill>
                  </a:tcPr>
                </a:tc>
                <a:tc>
                  <a:txBody>
                    <a:bodyPr/>
                    <a:lstStyle/>
                    <a:p>
                      <a:pPr marL="0" indent="0" algn="ctr">
                        <a:buNone/>
                      </a:pPr>
                      <a:r>
                        <a:rPr lang="en-US" sz="1350" dirty="0">
                          <a:solidFill>
                            <a:srgbClr val="5B6472"/>
                          </a:solidFill>
                          <a:latin typeface="Calibri" pitchFamily="34" charset="0"/>
                          <a:ea typeface="Calibri" pitchFamily="34" charset="-122"/>
                          <a:cs typeface="Calibri" pitchFamily="34" charset="-120"/>
                        </a:rPr>
                        <a:t>8</a:t>
                      </a:r>
                      <a:endParaRPr lang="en-US" sz="1350" dirty="0">
                        <a:latin typeface="Calibri" charset="0"/>
                        <a:ea typeface="Calibri" charset="0"/>
                        <a:cs typeface="Calibri"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7F8FC"/>
                    </a:solidFill>
                  </a:tcPr>
                </a:tc>
                <a:tc>
                  <a:txBody>
                    <a:bodyPr/>
                    <a:lstStyle/>
                    <a:p>
                      <a:pPr marL="0" indent="0" algn="ctr">
                        <a:buNone/>
                      </a:pPr>
                      <a:r>
                        <a:rPr lang="en-US" sz="1350" dirty="0">
                          <a:solidFill>
                            <a:srgbClr val="5B6472"/>
                          </a:solidFill>
                          <a:latin typeface="Calibri" pitchFamily="34" charset="0"/>
                          <a:ea typeface="Calibri" pitchFamily="34" charset="-122"/>
                          <a:cs typeface="Calibri" pitchFamily="34" charset="-120"/>
                        </a:rPr>
                        <a:t>7.10</a:t>
                      </a:r>
                      <a:endParaRPr lang="en-US" sz="1350" dirty="0">
                        <a:latin typeface="Calibri" charset="0"/>
                        <a:ea typeface="Calibri" charset="0"/>
                        <a:cs typeface="Calibri"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7F8FC"/>
                    </a:solidFill>
                  </a:tcPr>
                </a:tc>
                <a:tc>
                  <a:txBody>
                    <a:bodyPr/>
                    <a:lstStyle/>
                    <a:p>
                      <a:pPr marL="0" indent="0" algn="r">
                        <a:buNone/>
                      </a:pPr>
                      <a:r>
                        <a:rPr lang="en-US" sz="1350" b="1" dirty="0">
                          <a:solidFill>
                            <a:srgbClr val="1E2761"/>
                          </a:solidFill>
                          <a:latin typeface="Calibri" pitchFamily="34" charset="0"/>
                          <a:ea typeface="Calibri" pitchFamily="34" charset="-122"/>
                          <a:cs typeface="Calibri" pitchFamily="34" charset="-120"/>
                        </a:rPr>
                        <a:t>6,296.6</a:t>
                      </a:r>
                      <a:endParaRPr lang="en-US" sz="1350" dirty="0">
                        <a:latin typeface="Calibri" charset="0"/>
                        <a:ea typeface="Calibri" charset="0"/>
                        <a:cs typeface="Calibri"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7F8FC"/>
                    </a:solidFill>
                  </a:tcPr>
                </a:tc>
                <a:extLst>
                  <a:ext uri="{0D108BD9-81ED-4DB2-BD59-A6C34878D82A}">
                    <a16:rowId xmlns:a16="http://schemas.microsoft.com/office/drawing/2014/main" val="10002"/>
                  </a:ext>
                </a:extLst>
              </a:tr>
              <a:tr h="487680">
                <a:tc>
                  <a:txBody>
                    <a:bodyPr/>
                    <a:lstStyle/>
                    <a:p>
                      <a:pPr marL="0" indent="0">
                        <a:buNone/>
                      </a:pPr>
                      <a:r>
                        <a:rPr lang="en-US" sz="1350" dirty="0">
                          <a:solidFill>
                            <a:srgbClr val="1E2761"/>
                          </a:solidFill>
                          <a:latin typeface="Calibri" pitchFamily="34" charset="0"/>
                          <a:ea typeface="Calibri" pitchFamily="34" charset="-122"/>
                          <a:cs typeface="Calibri" pitchFamily="34" charset="-120"/>
                        </a:rPr>
                        <a:t>George Lucas</a:t>
                      </a:r>
                      <a:endParaRPr lang="en-US" sz="1350" dirty="0">
                        <a:latin typeface="Calibri" charset="0"/>
                        <a:ea typeface="Calibri" charset="0"/>
                        <a:cs typeface="Calibri"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5B6472"/>
                          </a:solidFill>
                          <a:latin typeface="Calibri" pitchFamily="34" charset="0"/>
                          <a:ea typeface="Calibri" pitchFamily="34" charset="-122"/>
                          <a:cs typeface="Calibri" pitchFamily="34" charset="-120"/>
                        </a:rPr>
                        <a:t>6</a:t>
                      </a:r>
                      <a:endParaRPr lang="en-US" sz="1350" dirty="0">
                        <a:latin typeface="Calibri" charset="0"/>
                        <a:ea typeface="Calibri" charset="0"/>
                        <a:cs typeface="Calibri"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5B6472"/>
                          </a:solidFill>
                          <a:latin typeface="Calibri" pitchFamily="34" charset="0"/>
                          <a:ea typeface="Calibri" pitchFamily="34" charset="-122"/>
                          <a:cs typeface="Calibri" pitchFamily="34" charset="-120"/>
                        </a:rPr>
                        <a:t>6.70</a:t>
                      </a:r>
                      <a:endParaRPr lang="en-US" sz="1350" dirty="0">
                        <a:latin typeface="Calibri" charset="0"/>
                        <a:ea typeface="Calibri" charset="0"/>
                        <a:cs typeface="Calibri"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marL="0" indent="0" algn="r">
                        <a:buNone/>
                      </a:pPr>
                      <a:r>
                        <a:rPr lang="en-US" sz="1350" b="1" dirty="0">
                          <a:solidFill>
                            <a:srgbClr val="1E2761"/>
                          </a:solidFill>
                          <a:latin typeface="Calibri" pitchFamily="34" charset="0"/>
                          <a:ea typeface="Calibri" pitchFamily="34" charset="-122"/>
                          <a:cs typeface="Calibri" pitchFamily="34" charset="-120"/>
                        </a:rPr>
                        <a:t>5,844.2</a:t>
                      </a:r>
                      <a:endParaRPr lang="en-US" sz="1350" dirty="0">
                        <a:latin typeface="Calibri" charset="0"/>
                        <a:ea typeface="Calibri" charset="0"/>
                        <a:cs typeface="Calibri"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87680">
                <a:tc>
                  <a:txBody>
                    <a:bodyPr/>
                    <a:lstStyle/>
                    <a:p>
                      <a:pPr marL="0" indent="0">
                        <a:buNone/>
                      </a:pPr>
                      <a:r>
                        <a:rPr lang="en-US" sz="1350" dirty="0">
                          <a:solidFill>
                            <a:srgbClr val="1E2761"/>
                          </a:solidFill>
                          <a:latin typeface="Calibri" pitchFamily="34" charset="0"/>
                          <a:ea typeface="Calibri" pitchFamily="34" charset="-122"/>
                          <a:cs typeface="Calibri" pitchFamily="34" charset="-120"/>
                        </a:rPr>
                        <a:t>Peter Jackson</a:t>
                      </a:r>
                      <a:endParaRPr lang="en-US" sz="1350" dirty="0">
                        <a:latin typeface="Calibri" charset="0"/>
                        <a:ea typeface="Calibri" charset="0"/>
                        <a:cs typeface="Calibri"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7F8FC"/>
                    </a:solidFill>
                  </a:tcPr>
                </a:tc>
                <a:tc>
                  <a:txBody>
                    <a:bodyPr/>
                    <a:lstStyle/>
                    <a:p>
                      <a:pPr marL="0" indent="0" algn="ctr">
                        <a:buNone/>
                      </a:pPr>
                      <a:r>
                        <a:rPr lang="en-US" sz="1350" dirty="0">
                          <a:solidFill>
                            <a:srgbClr val="5B6472"/>
                          </a:solidFill>
                          <a:latin typeface="Calibri" pitchFamily="34" charset="0"/>
                          <a:ea typeface="Calibri" pitchFamily="34" charset="-122"/>
                          <a:cs typeface="Calibri" pitchFamily="34" charset="-120"/>
                        </a:rPr>
                        <a:t>11</a:t>
                      </a:r>
                      <a:endParaRPr lang="en-US" sz="1350" dirty="0">
                        <a:latin typeface="Calibri" charset="0"/>
                        <a:ea typeface="Calibri" charset="0"/>
                        <a:cs typeface="Calibri"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7F8FC"/>
                    </a:solidFill>
                  </a:tcPr>
                </a:tc>
                <a:tc>
                  <a:txBody>
                    <a:bodyPr/>
                    <a:lstStyle/>
                    <a:p>
                      <a:pPr marL="0" indent="0" algn="ctr">
                        <a:buNone/>
                      </a:pPr>
                      <a:r>
                        <a:rPr lang="en-US" sz="1350" dirty="0">
                          <a:solidFill>
                            <a:srgbClr val="5B6472"/>
                          </a:solidFill>
                          <a:latin typeface="Calibri" pitchFamily="34" charset="0"/>
                          <a:ea typeface="Calibri" pitchFamily="34" charset="-122"/>
                          <a:cs typeface="Calibri" pitchFamily="34" charset="-120"/>
                        </a:rPr>
                        <a:t>7.15</a:t>
                      </a:r>
                      <a:endParaRPr lang="en-US" sz="1350" dirty="0">
                        <a:latin typeface="Calibri" charset="0"/>
                        <a:ea typeface="Calibri" charset="0"/>
                        <a:cs typeface="Calibri"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7F8FC"/>
                    </a:solidFill>
                  </a:tcPr>
                </a:tc>
                <a:tc>
                  <a:txBody>
                    <a:bodyPr/>
                    <a:lstStyle/>
                    <a:p>
                      <a:pPr marL="0" indent="0" algn="r">
                        <a:buNone/>
                      </a:pPr>
                      <a:r>
                        <a:rPr lang="en-US" sz="1350" b="1" dirty="0">
                          <a:solidFill>
                            <a:srgbClr val="1E2761"/>
                          </a:solidFill>
                          <a:latin typeface="Calibri" pitchFamily="34" charset="0"/>
                          <a:ea typeface="Calibri" pitchFamily="34" charset="-122"/>
                          <a:cs typeface="Calibri" pitchFamily="34" charset="-120"/>
                        </a:rPr>
                        <a:t>5,645.5</a:t>
                      </a:r>
                      <a:endParaRPr lang="en-US" sz="1350" dirty="0">
                        <a:latin typeface="Calibri" charset="0"/>
                        <a:ea typeface="Calibri" charset="0"/>
                        <a:cs typeface="Calibri"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7F8FC"/>
                    </a:solidFill>
                  </a:tcPr>
                </a:tc>
                <a:extLst>
                  <a:ext uri="{0D108BD9-81ED-4DB2-BD59-A6C34878D82A}">
                    <a16:rowId xmlns:a16="http://schemas.microsoft.com/office/drawing/2014/main" val="10004"/>
                  </a:ext>
                </a:extLst>
              </a:tr>
              <a:tr h="487680">
                <a:tc>
                  <a:txBody>
                    <a:bodyPr/>
                    <a:lstStyle/>
                    <a:p>
                      <a:pPr marL="0" indent="0">
                        <a:buNone/>
                      </a:pPr>
                      <a:r>
                        <a:rPr lang="en-US" sz="1350" dirty="0">
                          <a:solidFill>
                            <a:srgbClr val="1E2761"/>
                          </a:solidFill>
                          <a:latin typeface="Calibri" pitchFamily="34" charset="0"/>
                          <a:ea typeface="Calibri" pitchFamily="34" charset="-122"/>
                          <a:cs typeface="Calibri" pitchFamily="34" charset="-120"/>
                        </a:rPr>
                        <a:t>Christopher Nolan</a:t>
                      </a:r>
                      <a:endParaRPr lang="en-US" sz="1350" dirty="0">
                        <a:latin typeface="Calibri" charset="0"/>
                        <a:ea typeface="Calibri" charset="0"/>
                        <a:cs typeface="Calibri"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5B6472"/>
                          </a:solidFill>
                          <a:latin typeface="Calibri" pitchFamily="34" charset="0"/>
                          <a:ea typeface="Calibri" pitchFamily="34" charset="-122"/>
                          <a:cs typeface="Calibri" pitchFamily="34" charset="-120"/>
                        </a:rPr>
                        <a:t>8</a:t>
                      </a:r>
                      <a:endParaRPr lang="en-US" sz="1350" dirty="0">
                        <a:latin typeface="Calibri" charset="0"/>
                        <a:ea typeface="Calibri" charset="0"/>
                        <a:cs typeface="Calibri"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5B6472"/>
                          </a:solidFill>
                          <a:latin typeface="Calibri" pitchFamily="34" charset="0"/>
                          <a:ea typeface="Calibri" pitchFamily="34" charset="-122"/>
                          <a:cs typeface="Calibri" pitchFamily="34" charset="-120"/>
                        </a:rPr>
                        <a:t>7.64</a:t>
                      </a:r>
                      <a:endParaRPr lang="en-US" sz="1350" dirty="0">
                        <a:latin typeface="Calibri" charset="0"/>
                        <a:ea typeface="Calibri" charset="0"/>
                        <a:cs typeface="Calibri"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tc>
                  <a:txBody>
                    <a:bodyPr/>
                    <a:lstStyle/>
                    <a:p>
                      <a:pPr marL="0" indent="0" algn="r">
                        <a:buNone/>
                      </a:pPr>
                      <a:r>
                        <a:rPr lang="en-US" sz="1350" b="1" dirty="0">
                          <a:solidFill>
                            <a:srgbClr val="1E2761"/>
                          </a:solidFill>
                          <a:latin typeface="Calibri" pitchFamily="34" charset="0"/>
                          <a:ea typeface="Calibri" pitchFamily="34" charset="-122"/>
                          <a:cs typeface="Calibri" pitchFamily="34" charset="-120"/>
                        </a:rPr>
                        <a:t>3,149.6</a:t>
                      </a:r>
                      <a:endParaRPr lang="en-US" sz="1350" dirty="0">
                        <a:latin typeface="Calibri" charset="0"/>
                        <a:ea typeface="Calibri" charset="0"/>
                        <a:cs typeface="Calibri" charset="0"/>
                      </a:endParaRPr>
                    </a:p>
                  </a:txBody>
                  <a:tcPr anchor="ctr">
                    <a:lnL w="12700" cap="flat" cmpd="sng" algn="ctr">
                      <a:solidFill>
                        <a:srgbClr val="E2E6F0"/>
                      </a:solidFill>
                      <a:prstDash val="solid"/>
                      <a:round/>
                      <a:headEnd type="none" w="med" len="med"/>
                      <a:tailEnd type="none" w="med" len="med"/>
                    </a:lnL>
                    <a:lnR w="12700" cap="flat" cmpd="sng" algn="ctr">
                      <a:solidFill>
                        <a:srgbClr val="E2E6F0"/>
                      </a:solidFill>
                      <a:prstDash val="solid"/>
                      <a:round/>
                      <a:headEnd type="none" w="med" len="med"/>
                      <a:tailEnd type="none" w="med" len="med"/>
                    </a:lnR>
                    <a:lnT w="12700" cap="flat" cmpd="sng" algn="ctr">
                      <a:solidFill>
                        <a:srgbClr val="E2E6F0"/>
                      </a:solidFill>
                      <a:prstDash val="solid"/>
                      <a:round/>
                      <a:headEnd type="none" w="med" len="med"/>
                      <a:tailEnd type="none" w="med" len="med"/>
                    </a:lnT>
                    <a:lnB w="12700" cap="flat" cmpd="sng" algn="ctr">
                      <a:solidFill>
                        <a:srgbClr val="E2E6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7635240" y="1783080"/>
            <a:ext cx="4023360" cy="36576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Volume vs. efficiency</a:t>
            </a:r>
            <a:endParaRPr lang="en-US" sz="1700" dirty="0"/>
          </a:p>
        </p:txBody>
      </p:sp>
      <p:sp>
        <p:nvSpPr>
          <p:cNvPr id="7" name="Text 4"/>
          <p:cNvSpPr/>
          <p:nvPr/>
        </p:nvSpPr>
        <p:spPr>
          <a:xfrm>
            <a:off x="7635240" y="2194560"/>
            <a:ext cx="4023360" cy="2011680"/>
          </a:xfrm>
          <a:prstGeom prst="rect">
            <a:avLst/>
          </a:prstGeom>
          <a:noFill/>
          <a:ln/>
        </p:spPr>
        <p:txBody>
          <a:bodyPr wrap="square" rtlCol="0" anchor="t"/>
          <a:lstStyle/>
          <a:p>
            <a:pPr marL="0" indent="0">
              <a:buNone/>
            </a:pPr>
            <a:r>
              <a:rPr lang="en-US" sz="1350" dirty="0">
                <a:solidFill>
                  <a:srgbClr val="5B6472"/>
                </a:solidFill>
                <a:latin typeface="Calibri" pitchFamily="34" charset="0"/>
                <a:ea typeface="Calibri" pitchFamily="34" charset="-122"/>
                <a:cs typeface="Calibri" pitchFamily="34" charset="-120"/>
              </a:rPr>
              <a:t>Spielberg averages ~$486M profit per film across 27 movies, while Cameron averages ~$787M per film across just 8, fewer projects, but a stronger per-film return. Nolan, meanwhile, leads the group on rating (7.64) despite having the lowest total profit here</a:t>
            </a:r>
            <a:endParaRPr lang="en-US" sz="1350" dirty="0"/>
          </a:p>
        </p:txBody>
      </p:sp>
      <p:sp>
        <p:nvSpPr>
          <p:cNvPr id="8" name="Shape 5"/>
          <p:cNvSpPr/>
          <p:nvPr/>
        </p:nvSpPr>
        <p:spPr>
          <a:xfrm>
            <a:off x="7635240" y="4343400"/>
            <a:ext cx="4023360" cy="1600200"/>
          </a:xfrm>
          <a:prstGeom prst="roundRect">
            <a:avLst>
              <a:gd name="adj" fmla="val 4571"/>
            </a:avLst>
          </a:prstGeom>
          <a:solidFill>
            <a:srgbClr val="1E2761"/>
          </a:solidFill>
          <a:ln/>
        </p:spPr>
      </p:sp>
      <p:sp>
        <p:nvSpPr>
          <p:cNvPr id="9" name="Text 6"/>
          <p:cNvSpPr/>
          <p:nvPr/>
        </p:nvSpPr>
        <p:spPr>
          <a:xfrm>
            <a:off x="7818120" y="4480560"/>
            <a:ext cx="3657600" cy="1325880"/>
          </a:xfrm>
          <a:prstGeom prst="rect">
            <a:avLst/>
          </a:prstGeom>
          <a:noFill/>
          <a:ln/>
        </p:spPr>
        <p:txBody>
          <a:bodyPr wrap="square" rtlCol="0" anchor="t"/>
          <a:lstStyle/>
          <a:p>
            <a:pPr marL="0" indent="0">
              <a:buNone/>
            </a:pPr>
            <a:r>
              <a:rPr lang="en-US" sz="1300" dirty="0">
                <a:solidFill>
                  <a:srgbClr val="FFFFFF"/>
                </a:solidFill>
                <a:latin typeface="Calibri" pitchFamily="34" charset="0"/>
                <a:ea typeface="Calibri" pitchFamily="34" charset="-122"/>
                <a:cs typeface="Calibri" pitchFamily="34" charset="-120"/>
              </a:rPr>
              <a:t>“Bankable” can mean a long, consistent track record or fewer, higher-performing projects. The right pick depends on the strategy.</a:t>
            </a:r>
            <a:endParaRPr lang="en-US" sz="1300" dirty="0"/>
          </a:p>
        </p:txBody>
      </p:sp>
      <p:sp>
        <p:nvSpPr>
          <p:cNvPr id="10" name="Text 7"/>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5486400" cy="320040"/>
          </a:xfrm>
          <a:prstGeom prst="rect">
            <a:avLst/>
          </a:prstGeom>
          <a:noFill/>
          <a:ln/>
        </p:spPr>
        <p:txBody>
          <a:bodyPr wrap="square"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INSIGHT  —  Q6</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Longer Films Win on Both Profit and Rating</a:t>
            </a:r>
            <a:endParaRPr lang="en-US" sz="3200" dirty="0"/>
          </a:p>
        </p:txBody>
      </p:sp>
      <p:sp>
        <p:nvSpPr>
          <p:cNvPr id="6" name="Text 2"/>
          <p:cNvSpPr/>
          <p:nvPr/>
        </p:nvSpPr>
        <p:spPr>
          <a:xfrm>
            <a:off x="548640" y="5989320"/>
            <a:ext cx="11064240" cy="640080"/>
          </a:xfrm>
          <a:prstGeom prst="rect">
            <a:avLst/>
          </a:prstGeom>
          <a:noFill/>
          <a:ln/>
        </p:spPr>
        <p:txBody>
          <a:bodyPr wrap="square" rtlCol="0" anchor="ctr"/>
          <a:lstStyle/>
          <a:p>
            <a:pPr marL="0" indent="0">
              <a:buNone/>
            </a:pPr>
            <a:r>
              <a:rPr lang="en-US" sz="1350" i="1" dirty="0">
                <a:solidFill>
                  <a:srgbClr val="5B6472"/>
                </a:solidFill>
                <a:latin typeface="Calibri" pitchFamily="34" charset="0"/>
                <a:ea typeface="Calibri" pitchFamily="34" charset="-122"/>
                <a:cs typeface="Calibri" pitchFamily="34" charset="-120"/>
              </a:rPr>
              <a:t>Same band wins both: films Above 150 minutes average $256M profit AND a 6.9 rating. This is likely because studios reserve long runtimes for projects they already believe in.</a:t>
            </a:r>
            <a:endParaRPr lang="en-US" sz="1350" dirty="0"/>
          </a:p>
        </p:txBody>
      </p:sp>
      <p:sp>
        <p:nvSpPr>
          <p:cNvPr id="7" name="Text 3"/>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10</a:t>
            </a:r>
            <a:endParaRPr lang="en-US" sz="1000" dirty="0"/>
          </a:p>
        </p:txBody>
      </p:sp>
      <p:pic>
        <p:nvPicPr>
          <p:cNvPr id="9" name="Picture 8">
            <a:extLst>
              <a:ext uri="{FF2B5EF4-FFF2-40B4-BE49-F238E27FC236}">
                <a16:creationId xmlns:a16="http://schemas.microsoft.com/office/drawing/2014/main" id="{A7B8962E-9376-4C77-AD3E-94AEFDBB16FF}"/>
              </a:ext>
            </a:extLst>
          </p:cNvPr>
          <p:cNvPicPr>
            <a:picLocks noChangeAspect="1"/>
          </p:cNvPicPr>
          <p:nvPr/>
        </p:nvPicPr>
        <p:blipFill>
          <a:blip r:embed="rId3"/>
          <a:stretch>
            <a:fillRect/>
          </a:stretch>
        </p:blipFill>
        <p:spPr>
          <a:xfrm>
            <a:off x="579120" y="1481328"/>
            <a:ext cx="10555173" cy="428684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5486400" cy="320040"/>
          </a:xfrm>
          <a:prstGeom prst="rect">
            <a:avLst/>
          </a:prstGeom>
          <a:noFill/>
          <a:ln/>
        </p:spPr>
        <p:txBody>
          <a:bodyPr wrap="square"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INSIGHT  —  Q7 &amp; Q8</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Hype, Quality and Profit Don't Always Align</a:t>
            </a:r>
            <a:endParaRPr lang="en-US" sz="3200" dirty="0"/>
          </a:p>
        </p:txBody>
      </p:sp>
      <p:sp>
        <p:nvSpPr>
          <p:cNvPr id="8" name="Text 4"/>
          <p:cNvSpPr/>
          <p:nvPr/>
        </p:nvSpPr>
        <p:spPr>
          <a:xfrm>
            <a:off x="6629400" y="4434840"/>
            <a:ext cx="5029200" cy="1417320"/>
          </a:xfrm>
          <a:prstGeom prst="rect">
            <a:avLst/>
          </a:prstGeom>
          <a:noFill/>
          <a:ln/>
        </p:spPr>
        <p:txBody>
          <a:bodyPr wrap="square" rtlCol="0" anchor="t"/>
          <a:lstStyle/>
          <a:p>
            <a:pPr marL="0" indent="0">
              <a:buNone/>
            </a:pPr>
            <a:r>
              <a:rPr lang="en-US" sz="1350" dirty="0">
                <a:solidFill>
                  <a:srgbClr val="5B6472"/>
                </a:solidFill>
                <a:latin typeface="Calibri" pitchFamily="34" charset="0"/>
                <a:ea typeface="Calibri" pitchFamily="34" charset="-122"/>
                <a:cs typeface="Calibri" pitchFamily="34" charset="-120"/>
              </a:rPr>
              <a:t>Popularity roughly doubles from low to high-rated films, but the gap is driven by a few outliers, most films at any rating, sit near zero. None of these 10 top-rated films (500+ votes) overlap with the Profit Leaders list.</a:t>
            </a:r>
            <a:endParaRPr lang="en-US" sz="1350" dirty="0"/>
          </a:p>
        </p:txBody>
      </p:sp>
      <p:sp>
        <p:nvSpPr>
          <p:cNvPr id="9" name="Text 5"/>
          <p:cNvSpPr/>
          <p:nvPr/>
        </p:nvSpPr>
        <p:spPr>
          <a:xfrm>
            <a:off x="548640" y="6080760"/>
            <a:ext cx="11064240" cy="502920"/>
          </a:xfrm>
          <a:prstGeom prst="rect">
            <a:avLst/>
          </a:prstGeom>
          <a:noFill/>
          <a:ln/>
        </p:spPr>
        <p:txBody>
          <a:bodyPr wrap="square" rtlCol="0" anchor="ctr"/>
          <a:lstStyle/>
          <a:p>
            <a:pPr marL="0" indent="0">
              <a:buNone/>
            </a:pPr>
            <a:r>
              <a:rPr lang="en-US" sz="1300" i="1" dirty="0">
                <a:solidFill>
                  <a:srgbClr val="D9A441"/>
                </a:solidFill>
                <a:latin typeface="Calibri" pitchFamily="34" charset="0"/>
                <a:ea typeface="Calibri" pitchFamily="34" charset="-122"/>
                <a:cs typeface="Calibri" pitchFamily="34" charset="-120"/>
              </a:rPr>
              <a:t>Takeaway: a studio chasing profit and a studio chasing prestige need different strategies — hype is not a reliable stand-in for either.</a:t>
            </a:r>
            <a:endParaRPr lang="en-US" sz="1300" dirty="0"/>
          </a:p>
        </p:txBody>
      </p:sp>
      <p:sp>
        <p:nvSpPr>
          <p:cNvPr id="10" name="Text 6"/>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10</a:t>
            </a:r>
            <a:endParaRPr lang="en-US" sz="1000" dirty="0"/>
          </a:p>
        </p:txBody>
      </p:sp>
      <p:pic>
        <p:nvPicPr>
          <p:cNvPr id="12" name="Picture 11">
            <a:extLst>
              <a:ext uri="{FF2B5EF4-FFF2-40B4-BE49-F238E27FC236}">
                <a16:creationId xmlns:a16="http://schemas.microsoft.com/office/drawing/2014/main" id="{1AE5C5E9-45AE-4AB3-9790-FEAFF098BD8C}"/>
              </a:ext>
            </a:extLst>
          </p:cNvPr>
          <p:cNvPicPr>
            <a:picLocks noChangeAspect="1"/>
          </p:cNvPicPr>
          <p:nvPr/>
        </p:nvPicPr>
        <p:blipFill>
          <a:blip r:embed="rId3"/>
          <a:stretch>
            <a:fillRect/>
          </a:stretch>
        </p:blipFill>
        <p:spPr>
          <a:xfrm>
            <a:off x="347472" y="1691640"/>
            <a:ext cx="6249804" cy="3657600"/>
          </a:xfrm>
          <a:prstGeom prst="rect">
            <a:avLst/>
          </a:prstGeom>
        </p:spPr>
      </p:pic>
      <p:pic>
        <p:nvPicPr>
          <p:cNvPr id="14" name="Picture 13">
            <a:extLst>
              <a:ext uri="{FF2B5EF4-FFF2-40B4-BE49-F238E27FC236}">
                <a16:creationId xmlns:a16="http://schemas.microsoft.com/office/drawing/2014/main" id="{E7077C43-9656-4CB9-AF2D-17C17CE6B4A8}"/>
              </a:ext>
            </a:extLst>
          </p:cNvPr>
          <p:cNvPicPr>
            <a:picLocks noChangeAspect="1"/>
          </p:cNvPicPr>
          <p:nvPr/>
        </p:nvPicPr>
        <p:blipFill>
          <a:blip r:embed="rId4"/>
          <a:stretch>
            <a:fillRect/>
          </a:stretch>
        </p:blipFill>
        <p:spPr>
          <a:xfrm>
            <a:off x="6629400" y="1691640"/>
            <a:ext cx="5239416" cy="25603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41B4D"/>
        </a:solidFill>
        <a:effectLst/>
      </p:bgPr>
    </p:bg>
    <p:spTree>
      <p:nvGrpSpPr>
        <p:cNvPr id="1" name=""/>
        <p:cNvGrpSpPr/>
        <p:nvPr/>
      </p:nvGrpSpPr>
      <p:grpSpPr>
        <a:xfrm>
          <a:off x="0" y="0"/>
          <a:ext cx="0" cy="0"/>
          <a:chOff x="0" y="0"/>
          <a:chExt cx="0" cy="0"/>
        </a:xfrm>
      </p:grpSpPr>
      <p:sp>
        <p:nvSpPr>
          <p:cNvPr id="2" name="Text 0"/>
          <p:cNvSpPr/>
          <p:nvPr/>
        </p:nvSpPr>
        <p:spPr>
          <a:xfrm>
            <a:off x="548640" y="365760"/>
            <a:ext cx="5486400" cy="320040"/>
          </a:xfrm>
          <a:prstGeom prst="rect">
            <a:avLst/>
          </a:prstGeom>
          <a:noFill/>
          <a:ln/>
        </p:spPr>
        <p:txBody>
          <a:bodyPr wrap="square"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VISUALISE</a:t>
            </a:r>
            <a:endParaRPr lang="en-US" sz="1300" dirty="0"/>
          </a:p>
        </p:txBody>
      </p:sp>
      <p:sp>
        <p:nvSpPr>
          <p:cNvPr id="3" name="Text 1"/>
          <p:cNvSpPr/>
          <p:nvPr/>
        </p:nvSpPr>
        <p:spPr>
          <a:xfrm>
            <a:off x="548640" y="658368"/>
            <a:ext cx="91440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One Page, Full Picture</a:t>
            </a:r>
            <a:endParaRPr lang="en-US" sz="3000" dirty="0"/>
          </a:p>
        </p:txBody>
      </p:sp>
      <p:sp>
        <p:nvSpPr>
          <p:cNvPr id="4" name="Text 2"/>
          <p:cNvSpPr/>
          <p:nvPr/>
        </p:nvSpPr>
        <p:spPr>
          <a:xfrm>
            <a:off x="548640" y="1280160"/>
            <a:ext cx="11064240" cy="457200"/>
          </a:xfrm>
          <a:prstGeom prst="rect">
            <a:avLst/>
          </a:prstGeom>
          <a:noFill/>
          <a:ln/>
        </p:spPr>
        <p:txBody>
          <a:bodyPr wrap="square" rtlCol="0" anchor="ctr"/>
          <a:lstStyle/>
          <a:p>
            <a:pPr marL="0" indent="0">
              <a:buNone/>
            </a:pPr>
            <a:r>
              <a:rPr lang="en-US" sz="1400" dirty="0">
                <a:solidFill>
                  <a:srgbClr val="CADCFC"/>
                </a:solidFill>
                <a:latin typeface="Calibri" pitchFamily="34" charset="0"/>
                <a:ea typeface="Calibri" pitchFamily="34" charset="-122"/>
                <a:cs typeface="Calibri" pitchFamily="34" charset="-120"/>
              </a:rPr>
              <a:t>An interactive Power BI dashboard with four headline metrics, genre and decade trends, budget comparison, and the top bankable directors that are filterable by decade and genre.</a:t>
            </a:r>
            <a:endParaRPr lang="en-US" sz="1400" dirty="0"/>
          </a:p>
        </p:txBody>
      </p:sp>
      <p:sp>
        <p:nvSpPr>
          <p:cNvPr id="5" name="Shape 3"/>
          <p:cNvSpPr/>
          <p:nvPr/>
        </p:nvSpPr>
        <p:spPr>
          <a:xfrm>
            <a:off x="640080" y="1828800"/>
            <a:ext cx="10881360" cy="4709160"/>
          </a:xfrm>
          <a:prstGeom prst="roundRect">
            <a:avLst>
              <a:gd name="adj" fmla="val 1165"/>
            </a:avLst>
          </a:prstGeom>
          <a:solidFill>
            <a:srgbClr val="FFFFFF"/>
          </a:solidFill>
          <a:ln w="25400">
            <a:solidFill>
              <a:srgbClr val="0E1440"/>
            </a:solidFill>
            <a:prstDash val="solid"/>
          </a:ln>
          <a:effectLst>
            <a:outerShdw blurRad="152400" dist="50800" dir="5400000" algn="bl" rotWithShape="0">
              <a:srgbClr val="000000">
                <a:alpha val="35000"/>
              </a:srgbClr>
            </a:outerShdw>
          </a:effectLst>
        </p:spPr>
      </p:sp>
      <p:sp>
        <p:nvSpPr>
          <p:cNvPr id="7" name="Text 4"/>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12</a:t>
            </a:r>
            <a:endParaRPr lang="en-US" sz="1000" dirty="0"/>
          </a:p>
        </p:txBody>
      </p:sp>
      <p:pic>
        <p:nvPicPr>
          <p:cNvPr id="9" name="Picture 8">
            <a:extLst>
              <a:ext uri="{FF2B5EF4-FFF2-40B4-BE49-F238E27FC236}">
                <a16:creationId xmlns:a16="http://schemas.microsoft.com/office/drawing/2014/main" id="{F133C63F-33FD-49D2-8713-4E3FA3337ED7}"/>
              </a:ext>
            </a:extLst>
          </p:cNvPr>
          <p:cNvPicPr>
            <a:picLocks noChangeAspect="1"/>
          </p:cNvPicPr>
          <p:nvPr/>
        </p:nvPicPr>
        <p:blipFill>
          <a:blip r:embed="rId3"/>
          <a:stretch>
            <a:fillRect/>
          </a:stretch>
        </p:blipFill>
        <p:spPr>
          <a:xfrm>
            <a:off x="637413" y="1777792"/>
            <a:ext cx="10881360" cy="476016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5486400" cy="320040"/>
          </a:xfrm>
          <a:prstGeom prst="rect">
            <a:avLst/>
          </a:prstGeom>
          <a:noFill/>
          <a:ln/>
        </p:spPr>
        <p:txBody>
          <a:bodyPr wrap="square"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EXECUTE</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Three Recommendations for the $500M Investment</a:t>
            </a:r>
            <a:endParaRPr lang="en-US" sz="3200" dirty="0"/>
          </a:p>
        </p:txBody>
      </p:sp>
      <p:sp>
        <p:nvSpPr>
          <p:cNvPr id="4" name="Shape 2"/>
          <p:cNvSpPr/>
          <p:nvPr/>
        </p:nvSpPr>
        <p:spPr>
          <a:xfrm>
            <a:off x="548640" y="1783080"/>
            <a:ext cx="3611880" cy="4206240"/>
          </a:xfrm>
          <a:prstGeom prst="roundRect">
            <a:avLst>
              <a:gd name="adj" fmla="val 2532"/>
            </a:avLst>
          </a:prstGeom>
          <a:solidFill>
            <a:srgbClr val="F7F8FC"/>
          </a:solidFill>
          <a:ln w="12700">
            <a:solidFill>
              <a:srgbClr val="E2E6F0"/>
            </a:solidFill>
            <a:prstDash val="solid"/>
          </a:ln>
        </p:spPr>
      </p:sp>
      <p:sp>
        <p:nvSpPr>
          <p:cNvPr id="5" name="Shape 3"/>
          <p:cNvSpPr/>
          <p:nvPr/>
        </p:nvSpPr>
        <p:spPr>
          <a:xfrm>
            <a:off x="777240" y="2011680"/>
            <a:ext cx="640080" cy="640080"/>
          </a:xfrm>
          <a:prstGeom prst="line">
            <a:avLst/>
          </a:prstGeom>
          <a:solidFill>
            <a:srgbClr val="1E2761"/>
          </a:solidFill>
          <a:ln/>
        </p:spPr>
      </p:sp>
      <p:sp>
        <p:nvSpPr>
          <p:cNvPr id="6" name="Text 4"/>
          <p:cNvSpPr/>
          <p:nvPr/>
        </p:nvSpPr>
        <p:spPr>
          <a:xfrm>
            <a:off x="777240" y="2011680"/>
            <a:ext cx="640080" cy="640080"/>
          </a:xfrm>
          <a:prstGeom prst="rect">
            <a:avLst/>
          </a:prstGeom>
          <a:noFill/>
          <a:ln/>
        </p:spPr>
        <p:txBody>
          <a:bodyPr wrap="square" lIns="0" tIns="0" rIns="0" bIns="0" rtlCol="0" anchor="ctr"/>
          <a:lstStyle/>
          <a:p>
            <a:pPr marL="0" indent="0" algn="ctr">
              <a:buNone/>
            </a:pPr>
            <a:r>
              <a:rPr lang="en-US" sz="2400" b="1" dirty="0">
                <a:latin typeface="Cambria" pitchFamily="34" charset="0"/>
                <a:ea typeface="Cambria" pitchFamily="34" charset="-122"/>
                <a:cs typeface="Cambria" pitchFamily="34" charset="-120"/>
              </a:rPr>
              <a:t>1</a:t>
            </a:r>
            <a:endParaRPr lang="en-US" sz="2400" dirty="0"/>
          </a:p>
        </p:txBody>
      </p:sp>
      <p:sp>
        <p:nvSpPr>
          <p:cNvPr id="7" name="Text 5"/>
          <p:cNvSpPr/>
          <p:nvPr/>
        </p:nvSpPr>
        <p:spPr>
          <a:xfrm>
            <a:off x="777240" y="2788920"/>
            <a:ext cx="3154680" cy="914400"/>
          </a:xfrm>
          <a:prstGeom prst="rect">
            <a:avLst/>
          </a:prstGeom>
          <a:noFill/>
          <a:ln/>
        </p:spPr>
        <p:txBody>
          <a:bodyPr wrap="square" rtlCol="0" anchor="t"/>
          <a:lstStyle/>
          <a:p>
            <a:pPr marL="0" indent="0">
              <a:buNone/>
            </a:pPr>
            <a:r>
              <a:rPr lang="en-US" sz="1700" b="1" dirty="0">
                <a:solidFill>
                  <a:srgbClr val="1E2761"/>
                </a:solidFill>
                <a:latin typeface="Cambria" pitchFamily="34" charset="0"/>
                <a:ea typeface="Cambria" pitchFamily="34" charset="-122"/>
                <a:cs typeface="Cambria" pitchFamily="34" charset="-120"/>
              </a:rPr>
              <a:t>Prioritise Adventure, Animation &amp; Family</a:t>
            </a:r>
            <a:endParaRPr lang="en-US" sz="1700" dirty="0"/>
          </a:p>
        </p:txBody>
      </p:sp>
      <p:sp>
        <p:nvSpPr>
          <p:cNvPr id="8" name="Text 6"/>
          <p:cNvSpPr/>
          <p:nvPr/>
        </p:nvSpPr>
        <p:spPr>
          <a:xfrm>
            <a:off x="777240" y="3703320"/>
            <a:ext cx="3154680" cy="2148840"/>
          </a:xfrm>
          <a:prstGeom prst="rect">
            <a:avLst/>
          </a:prstGeom>
          <a:noFill/>
          <a:ln/>
        </p:spPr>
        <p:txBody>
          <a:bodyPr wrap="square" rtlCol="0" anchor="t"/>
          <a:lstStyle/>
          <a:p>
            <a:pPr marL="0" indent="0">
              <a:buNone/>
            </a:pPr>
            <a:r>
              <a:rPr lang="en-US" sz="1350" dirty="0">
                <a:solidFill>
                  <a:srgbClr val="5B6472"/>
                </a:solidFill>
                <a:latin typeface="Calibri" pitchFamily="34" charset="0"/>
                <a:ea typeface="Calibri" pitchFamily="34" charset="-122"/>
                <a:cs typeface="Calibri" pitchFamily="34" charset="-120"/>
              </a:rPr>
              <a:t>These are the three highest-profit genres, averaging $218.0M, $210.6M, and $205.4M in profit respectively, while maintaining solid audience ratings (6.1 to 6.4). These genres deliver strong returns without sacrificing quality (Question 2)..</a:t>
            </a:r>
            <a:endParaRPr lang="en-US" sz="1350" dirty="0"/>
          </a:p>
        </p:txBody>
      </p:sp>
      <p:sp>
        <p:nvSpPr>
          <p:cNvPr id="9" name="Shape 7"/>
          <p:cNvSpPr/>
          <p:nvPr/>
        </p:nvSpPr>
        <p:spPr>
          <a:xfrm>
            <a:off x="4389120" y="1783080"/>
            <a:ext cx="3611880" cy="4206240"/>
          </a:xfrm>
          <a:prstGeom prst="roundRect">
            <a:avLst>
              <a:gd name="adj" fmla="val 2532"/>
            </a:avLst>
          </a:prstGeom>
          <a:solidFill>
            <a:srgbClr val="F7F8FC"/>
          </a:solidFill>
          <a:ln w="12700">
            <a:solidFill>
              <a:srgbClr val="E2E6F0"/>
            </a:solidFill>
            <a:prstDash val="solid"/>
          </a:ln>
        </p:spPr>
      </p:sp>
      <p:sp>
        <p:nvSpPr>
          <p:cNvPr id="10" name="Shape 8"/>
          <p:cNvSpPr/>
          <p:nvPr/>
        </p:nvSpPr>
        <p:spPr>
          <a:xfrm>
            <a:off x="4617720" y="2011680"/>
            <a:ext cx="640080" cy="640080"/>
          </a:xfrm>
          <a:prstGeom prst="line">
            <a:avLst/>
          </a:prstGeom>
          <a:solidFill>
            <a:srgbClr val="1E2761"/>
          </a:solidFill>
          <a:ln/>
        </p:spPr>
      </p:sp>
      <p:sp>
        <p:nvSpPr>
          <p:cNvPr id="11" name="Text 9"/>
          <p:cNvSpPr/>
          <p:nvPr/>
        </p:nvSpPr>
        <p:spPr>
          <a:xfrm>
            <a:off x="4617720" y="2011680"/>
            <a:ext cx="640080" cy="640080"/>
          </a:xfrm>
          <a:prstGeom prst="rect">
            <a:avLst/>
          </a:prstGeom>
          <a:noFill/>
          <a:ln/>
        </p:spPr>
        <p:txBody>
          <a:bodyPr wrap="square" lIns="0" tIns="0" rIns="0" bIns="0" rtlCol="0" anchor="ctr"/>
          <a:lstStyle/>
          <a:p>
            <a:pPr marL="0" indent="0" algn="ctr">
              <a:buNone/>
            </a:pPr>
            <a:r>
              <a:rPr lang="en-US" sz="2400" b="1" dirty="0">
                <a:latin typeface="Cambria" pitchFamily="34" charset="0"/>
                <a:ea typeface="Cambria" pitchFamily="34" charset="-122"/>
                <a:cs typeface="Cambria" pitchFamily="34" charset="-120"/>
              </a:rPr>
              <a:t>2</a:t>
            </a:r>
            <a:endParaRPr lang="en-US" sz="2400" dirty="0"/>
          </a:p>
        </p:txBody>
      </p:sp>
      <p:sp>
        <p:nvSpPr>
          <p:cNvPr id="12" name="Text 10"/>
          <p:cNvSpPr/>
          <p:nvPr/>
        </p:nvSpPr>
        <p:spPr>
          <a:xfrm>
            <a:off x="4617720" y="2788920"/>
            <a:ext cx="3154680" cy="914400"/>
          </a:xfrm>
          <a:prstGeom prst="rect">
            <a:avLst/>
          </a:prstGeom>
          <a:noFill/>
          <a:ln/>
        </p:spPr>
        <p:txBody>
          <a:bodyPr wrap="square" rtlCol="0" anchor="t"/>
          <a:lstStyle/>
          <a:p>
            <a:pPr marL="0" indent="0">
              <a:buNone/>
            </a:pPr>
            <a:r>
              <a:rPr lang="en-US" sz="1700" b="1" dirty="0">
                <a:solidFill>
                  <a:srgbClr val="1E2761"/>
                </a:solidFill>
                <a:latin typeface="Cambria" pitchFamily="34" charset="0"/>
                <a:ea typeface="Cambria" pitchFamily="34" charset="-122"/>
                <a:cs typeface="Cambria" pitchFamily="34" charset="-120"/>
              </a:rPr>
              <a:t>Favour larger budgets where warranted </a:t>
            </a:r>
            <a:endParaRPr lang="en-US" sz="1700" dirty="0"/>
          </a:p>
        </p:txBody>
      </p:sp>
      <p:sp>
        <p:nvSpPr>
          <p:cNvPr id="13" name="Text 11"/>
          <p:cNvSpPr/>
          <p:nvPr/>
        </p:nvSpPr>
        <p:spPr>
          <a:xfrm>
            <a:off x="4617720" y="3703320"/>
            <a:ext cx="3154680" cy="2148840"/>
          </a:xfrm>
          <a:prstGeom prst="rect">
            <a:avLst/>
          </a:prstGeom>
          <a:noFill/>
          <a:ln/>
        </p:spPr>
        <p:txBody>
          <a:bodyPr wrap="square" rtlCol="0" anchor="t"/>
          <a:lstStyle/>
          <a:p>
            <a:pPr marL="0" indent="0">
              <a:buNone/>
            </a:pPr>
            <a:r>
              <a:rPr lang="en-US" sz="1350" dirty="0">
                <a:solidFill>
                  <a:srgbClr val="5B6472"/>
                </a:solidFill>
                <a:latin typeface="Calibri" pitchFamily="34" charset="0"/>
                <a:ea typeface="Calibri" pitchFamily="34" charset="-122"/>
                <a:cs typeface="Calibri" pitchFamily="34" charset="-120"/>
              </a:rPr>
              <a:t>Films budgeted Over $100M deliver the highest average profit of $283M and revenue of $429M, with a moderate positive correlation (0.57) between budget and revenue. However, smaller budgets can deliver stronger ROI efficiency, so budget size should be matched to genre and director track record rather than pursued indiscriminately </a:t>
            </a:r>
            <a:endParaRPr lang="en-US" sz="1350" dirty="0"/>
          </a:p>
        </p:txBody>
      </p:sp>
      <p:sp>
        <p:nvSpPr>
          <p:cNvPr id="14" name="Shape 12"/>
          <p:cNvSpPr/>
          <p:nvPr/>
        </p:nvSpPr>
        <p:spPr>
          <a:xfrm>
            <a:off x="8229600" y="1783080"/>
            <a:ext cx="3611880" cy="4206240"/>
          </a:xfrm>
          <a:prstGeom prst="roundRect">
            <a:avLst>
              <a:gd name="adj" fmla="val 2532"/>
            </a:avLst>
          </a:prstGeom>
          <a:solidFill>
            <a:srgbClr val="F7F8FC"/>
          </a:solidFill>
          <a:ln w="12700">
            <a:solidFill>
              <a:srgbClr val="E2E6F0"/>
            </a:solidFill>
            <a:prstDash val="solid"/>
          </a:ln>
        </p:spPr>
      </p:sp>
      <p:sp>
        <p:nvSpPr>
          <p:cNvPr id="15" name="Shape 13"/>
          <p:cNvSpPr/>
          <p:nvPr/>
        </p:nvSpPr>
        <p:spPr>
          <a:xfrm>
            <a:off x="8458200" y="2011680"/>
            <a:ext cx="640080" cy="640080"/>
          </a:xfrm>
          <a:prstGeom prst="line">
            <a:avLst/>
          </a:prstGeom>
          <a:solidFill>
            <a:srgbClr val="1E2761"/>
          </a:solidFill>
          <a:ln/>
        </p:spPr>
      </p:sp>
      <p:sp>
        <p:nvSpPr>
          <p:cNvPr id="16" name="Text 14"/>
          <p:cNvSpPr/>
          <p:nvPr/>
        </p:nvSpPr>
        <p:spPr>
          <a:xfrm>
            <a:off x="8458200" y="2011680"/>
            <a:ext cx="640080" cy="640080"/>
          </a:xfrm>
          <a:prstGeom prst="rect">
            <a:avLst/>
          </a:prstGeom>
          <a:noFill/>
          <a:ln/>
        </p:spPr>
        <p:txBody>
          <a:bodyPr wrap="square" lIns="0" tIns="0" rIns="0" bIns="0" rtlCol="0" anchor="ctr"/>
          <a:lstStyle/>
          <a:p>
            <a:pPr marL="0" indent="0" algn="ctr">
              <a:buNone/>
            </a:pPr>
            <a:r>
              <a:rPr lang="en-US" sz="2400" b="1" dirty="0">
                <a:latin typeface="Cambria" pitchFamily="34" charset="0"/>
                <a:ea typeface="Cambria" pitchFamily="34" charset="-122"/>
                <a:cs typeface="Cambria" pitchFamily="34" charset="-120"/>
              </a:rPr>
              <a:t>3</a:t>
            </a:r>
            <a:endParaRPr lang="en-US" sz="2400" dirty="0"/>
          </a:p>
        </p:txBody>
      </p:sp>
      <p:sp>
        <p:nvSpPr>
          <p:cNvPr id="17" name="Text 15"/>
          <p:cNvSpPr/>
          <p:nvPr/>
        </p:nvSpPr>
        <p:spPr>
          <a:xfrm>
            <a:off x="8458200" y="2788920"/>
            <a:ext cx="3154680" cy="914400"/>
          </a:xfrm>
          <a:prstGeom prst="rect">
            <a:avLst/>
          </a:prstGeom>
          <a:noFill/>
          <a:ln/>
        </p:spPr>
        <p:txBody>
          <a:bodyPr wrap="square" rtlCol="0" anchor="t"/>
          <a:lstStyle/>
          <a:p>
            <a:pPr marL="0" indent="0">
              <a:buNone/>
            </a:pPr>
            <a:r>
              <a:rPr lang="en-US" sz="1700" b="1" dirty="0">
                <a:solidFill>
                  <a:srgbClr val="1E2761"/>
                </a:solidFill>
                <a:latin typeface="Cambria" pitchFamily="34" charset="0"/>
                <a:ea typeface="Cambria" pitchFamily="34" charset="-122"/>
                <a:cs typeface="Cambria" pitchFamily="34" charset="-120"/>
              </a:rPr>
              <a:t>Back directors with a track record</a:t>
            </a:r>
            <a:endParaRPr lang="en-US" sz="1700" dirty="0"/>
          </a:p>
        </p:txBody>
      </p:sp>
      <p:sp>
        <p:nvSpPr>
          <p:cNvPr id="18" name="Text 16"/>
          <p:cNvSpPr/>
          <p:nvPr/>
        </p:nvSpPr>
        <p:spPr>
          <a:xfrm>
            <a:off x="8458200" y="3703320"/>
            <a:ext cx="3154680" cy="2148840"/>
          </a:xfrm>
          <a:prstGeom prst="rect">
            <a:avLst/>
          </a:prstGeom>
          <a:noFill/>
          <a:ln/>
        </p:spPr>
        <p:txBody>
          <a:bodyPr wrap="square" rtlCol="0" anchor="t"/>
          <a:lstStyle/>
          <a:p>
            <a:pPr marL="0" indent="0">
              <a:buNone/>
            </a:pPr>
            <a:r>
              <a:rPr lang="en-US" sz="1350" dirty="0">
                <a:solidFill>
                  <a:srgbClr val="5B6472"/>
                </a:solidFill>
                <a:latin typeface="Calibri" pitchFamily="34" charset="0"/>
                <a:ea typeface="Calibri" pitchFamily="34" charset="-122"/>
                <a:cs typeface="Calibri" pitchFamily="34" charset="-120"/>
              </a:rPr>
              <a:t>Steven Spielberg, James Cameron, and George Lucas lead with total profits of $13.1billion, $6.3billion, and $5.8billion respectively across their qualifying films, combined with strong average ratings of 6.7 to 7.1. Prior box office success is a meaningful signal for future investment</a:t>
            </a:r>
            <a:endParaRPr lang="en-US" sz="1350" dirty="0"/>
          </a:p>
        </p:txBody>
      </p:sp>
      <p:sp>
        <p:nvSpPr>
          <p:cNvPr id="19" name="Text 17"/>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548640" y="365760"/>
            <a:ext cx="5486400" cy="320040"/>
          </a:xfrm>
          <a:prstGeom prst="rect">
            <a:avLst/>
          </a:prstGeom>
          <a:noFill/>
          <a:ln/>
        </p:spPr>
        <p:txBody>
          <a:bodyPr wrap="square"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EXECUTE</a:t>
            </a:r>
            <a:endParaRPr lang="en-US" sz="1300" dirty="0"/>
          </a:p>
        </p:txBody>
      </p:sp>
      <p:sp>
        <p:nvSpPr>
          <p:cNvPr id="3" name="Text 1"/>
          <p:cNvSpPr/>
          <p:nvPr/>
        </p:nvSpPr>
        <p:spPr>
          <a:xfrm>
            <a:off x="548640" y="658368"/>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Limitation and Next Question </a:t>
            </a:r>
            <a:endParaRPr lang="en-US" sz="3200" dirty="0"/>
          </a:p>
        </p:txBody>
      </p:sp>
      <p:sp>
        <p:nvSpPr>
          <p:cNvPr id="4" name="Shape 2"/>
          <p:cNvSpPr/>
          <p:nvPr/>
        </p:nvSpPr>
        <p:spPr>
          <a:xfrm>
            <a:off x="548640" y="1783080"/>
            <a:ext cx="5394960" cy="4114800"/>
          </a:xfrm>
          <a:prstGeom prst="roundRect">
            <a:avLst>
              <a:gd name="adj" fmla="val 2222"/>
            </a:avLst>
          </a:prstGeom>
          <a:solidFill>
            <a:srgbClr val="FFFFFF"/>
          </a:solidFill>
          <a:ln w="12700">
            <a:solidFill>
              <a:srgbClr val="E2E6F0"/>
            </a:solidFill>
            <a:prstDash val="solid"/>
          </a:ln>
        </p:spPr>
      </p:sp>
      <p:sp>
        <p:nvSpPr>
          <p:cNvPr id="5" name="Text 3"/>
          <p:cNvSpPr/>
          <p:nvPr/>
        </p:nvSpPr>
        <p:spPr>
          <a:xfrm>
            <a:off x="822960" y="2011680"/>
            <a:ext cx="4572000" cy="320040"/>
          </a:xfrm>
          <a:prstGeom prst="rect">
            <a:avLst/>
          </a:prstGeom>
          <a:noFill/>
          <a:ln/>
        </p:spPr>
        <p:txBody>
          <a:bodyPr wrap="square"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LIMITATION</a:t>
            </a:r>
            <a:endParaRPr lang="en-US" sz="1300" dirty="0"/>
          </a:p>
        </p:txBody>
      </p:sp>
      <p:sp>
        <p:nvSpPr>
          <p:cNvPr id="6" name="Text 4"/>
          <p:cNvSpPr/>
          <p:nvPr/>
        </p:nvSpPr>
        <p:spPr>
          <a:xfrm>
            <a:off x="822960" y="2468880"/>
            <a:ext cx="4846320" cy="3200400"/>
          </a:xfrm>
          <a:prstGeom prst="rect">
            <a:avLst/>
          </a:prstGeom>
          <a:noFill/>
          <a:ln/>
        </p:spPr>
        <p:txBody>
          <a:bodyPr wrap="square" rtlCol="0" anchor="t"/>
          <a:lstStyle/>
          <a:p>
            <a:pPr marL="0" indent="0">
              <a:buNone/>
            </a:pPr>
            <a:r>
              <a:rPr lang="en-US" sz="1500" dirty="0">
                <a:solidFill>
                  <a:srgbClr val="5B6472"/>
                </a:solidFill>
                <a:latin typeface="Calibri" pitchFamily="34" charset="0"/>
                <a:ea typeface="Calibri" pitchFamily="34" charset="-122"/>
                <a:cs typeface="Calibri" pitchFamily="34" charset="-120"/>
              </a:rPr>
              <a:t>The data ends in 2015, over a decade of industry change (streaming, shifting habits) isn't reflected. Also more than half the dataset also lacked usable budget/revenue figures, so our profit findings rest on 3,854 of 10,865 films.</a:t>
            </a:r>
            <a:endParaRPr lang="en-US" sz="1500" dirty="0"/>
          </a:p>
        </p:txBody>
      </p:sp>
      <p:sp>
        <p:nvSpPr>
          <p:cNvPr id="7" name="Shape 5"/>
          <p:cNvSpPr/>
          <p:nvPr/>
        </p:nvSpPr>
        <p:spPr>
          <a:xfrm>
            <a:off x="6263640" y="1783080"/>
            <a:ext cx="5394960" cy="4114800"/>
          </a:xfrm>
          <a:prstGeom prst="roundRect">
            <a:avLst>
              <a:gd name="adj" fmla="val 2222"/>
            </a:avLst>
          </a:prstGeom>
          <a:solidFill>
            <a:srgbClr val="1E2761"/>
          </a:solidFill>
          <a:ln/>
        </p:spPr>
      </p:sp>
      <p:sp>
        <p:nvSpPr>
          <p:cNvPr id="8" name="Text 6"/>
          <p:cNvSpPr/>
          <p:nvPr/>
        </p:nvSpPr>
        <p:spPr>
          <a:xfrm>
            <a:off x="6537960" y="2011680"/>
            <a:ext cx="4572000" cy="320040"/>
          </a:xfrm>
          <a:prstGeom prst="rect">
            <a:avLst/>
          </a:prstGeom>
          <a:noFill/>
          <a:ln/>
        </p:spPr>
        <p:txBody>
          <a:bodyPr wrap="square"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NEXT QUESTION</a:t>
            </a:r>
            <a:endParaRPr lang="en-US" sz="1300" dirty="0"/>
          </a:p>
        </p:txBody>
      </p:sp>
      <p:sp>
        <p:nvSpPr>
          <p:cNvPr id="9" name="Text 7"/>
          <p:cNvSpPr/>
          <p:nvPr/>
        </p:nvSpPr>
        <p:spPr>
          <a:xfrm>
            <a:off x="6537960" y="2468880"/>
            <a:ext cx="4846320" cy="3200400"/>
          </a:xfrm>
          <a:prstGeom prst="rect">
            <a:avLst/>
          </a:prstGeom>
          <a:noFill/>
          <a:ln/>
        </p:spPr>
        <p:txBody>
          <a:bodyPr wrap="square" rtlCol="0" anchor="t"/>
          <a:lstStyle/>
          <a:p>
            <a:pPr marL="0" indent="0">
              <a:buNone/>
            </a:pPr>
            <a:r>
              <a:rPr lang="en-US" sz="1500" dirty="0">
                <a:solidFill>
                  <a:srgbClr val="FFFFFF"/>
                </a:solidFill>
                <a:latin typeface="Calibri" pitchFamily="34" charset="0"/>
                <a:ea typeface="Calibri" pitchFamily="34" charset="-122"/>
                <a:cs typeface="Calibri" pitchFamily="34" charset="-120"/>
              </a:rPr>
              <a:t>With more recent and complete data, I would prioritize understanding how streaming-era release strategies affect profitability as our current dataset only captures the traditional theatrical box office model.</a:t>
            </a:r>
            <a:endParaRPr lang="en-US" sz="1500" dirty="0"/>
          </a:p>
        </p:txBody>
      </p:sp>
      <p:sp>
        <p:nvSpPr>
          <p:cNvPr id="10" name="Text 8"/>
          <p:cNvSpPr/>
          <p:nvPr/>
        </p:nvSpPr>
        <p:spPr>
          <a:xfrm>
            <a:off x="11521440" y="6492240"/>
            <a:ext cx="457200" cy="274320"/>
          </a:xfrm>
          <a:prstGeom prst="rect">
            <a:avLst/>
          </a:prstGeom>
          <a:noFill/>
          <a:ln/>
        </p:spPr>
        <p:txBody>
          <a:bodyPr wrap="square"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141B4D"/>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line">
            <a:avLst/>
          </a:prstGeom>
          <a:solidFill>
            <a:srgbClr val="1E2761"/>
          </a:solidFill>
          <a:ln/>
        </p:spPr>
      </p:sp>
      <p:sp>
        <p:nvSpPr>
          <p:cNvPr id="3" name="Shape 1"/>
          <p:cNvSpPr/>
          <p:nvPr/>
        </p:nvSpPr>
        <p:spPr>
          <a:xfrm>
            <a:off x="-2286000" y="4754880"/>
            <a:ext cx="4572000" cy="4572000"/>
          </a:xfrm>
          <a:prstGeom prst="line">
            <a:avLst/>
          </a:prstGeom>
          <a:solidFill>
            <a:srgbClr val="1E2761"/>
          </a:solidFill>
          <a:ln/>
        </p:spPr>
      </p:sp>
      <p:sp>
        <p:nvSpPr>
          <p:cNvPr id="4" name="Text 2"/>
          <p:cNvSpPr/>
          <p:nvPr/>
        </p:nvSpPr>
        <p:spPr>
          <a:xfrm>
            <a:off x="822960" y="2651760"/>
            <a:ext cx="9144000" cy="914400"/>
          </a:xfrm>
          <a:prstGeom prst="rect">
            <a:avLst/>
          </a:prstGeom>
          <a:noFill/>
          <a:ln/>
        </p:spPr>
        <p:txBody>
          <a:bodyPr wrap="square"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6" name="Shape 4"/>
          <p:cNvSpPr/>
          <p:nvPr/>
        </p:nvSpPr>
        <p:spPr>
          <a:xfrm>
            <a:off x="822960" y="4206240"/>
            <a:ext cx="2011680" cy="0"/>
          </a:xfrm>
          <a:prstGeom prst="line">
            <a:avLst/>
          </a:prstGeom>
          <a:noFill/>
          <a:ln w="25400">
            <a:solidFill>
              <a:srgbClr val="D9A441"/>
            </a:solidFill>
            <a:prstDash val="solid"/>
          </a:ln>
        </p:spPr>
      </p:sp>
      <p:sp>
        <p:nvSpPr>
          <p:cNvPr id="7" name="Text 5"/>
          <p:cNvSpPr/>
          <p:nvPr/>
        </p:nvSpPr>
        <p:spPr>
          <a:xfrm>
            <a:off x="822960" y="6035040"/>
            <a:ext cx="7315200" cy="36576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Meridian Pictures  |  Capstone Project  |  July 2026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1428</TotalTime>
  <Words>1744</Words>
  <Application>Microsoft Office PowerPoint</Application>
  <PresentationFormat>Widescreen</PresentationFormat>
  <Paragraphs>172</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NEW USER</cp:lastModifiedBy>
  <cp:revision>5</cp:revision>
  <dcterms:created xsi:type="dcterms:W3CDTF">2026-07-20T22:17:47Z</dcterms:created>
  <dcterms:modified xsi:type="dcterms:W3CDTF">2026-07-21T22:08:30Z</dcterms:modified>
</cp:coreProperties>
</file>